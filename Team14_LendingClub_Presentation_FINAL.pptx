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20"/>
    <p:sldId id="259" r:id="rId5"/>
    <p:sldId id="260" r:id="rId6"/>
    <p:sldId id="261" r:id="rId7"/>
    <p:sldId id="270" r:id="rId21"/>
    <p:sldId id="262" r:id="rId8"/>
    <p:sldId id="265" r:id="rId11"/>
    <p:sldId id="263" r:id="rId9"/>
    <p:sldId id="274" r:id="rId25"/>
    <p:sldId id="272" r:id="rId23"/>
    <p:sldId id="271" r:id="rId22"/>
    <p:sldId id="264" r:id="rId10"/>
    <p:sldId id="273" r:id="rId24"/>
    <p:sldId id="275" r:id="rId26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1.xml"/><Relationship Id="rId10" Type="http://schemas.openxmlformats.org/officeDocument/2006/relationships/slide" Target="slides/slide14.xml"/><Relationship Id="rId11" Type="http://schemas.openxmlformats.org/officeDocument/2006/relationships/slide" Target="slides/slide10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1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4.xml"/><Relationship Id="rId21" Type="http://schemas.openxmlformats.org/officeDocument/2006/relationships/slide" Target="slides/slide8.xml"/><Relationship Id="rId22" Type="http://schemas.openxmlformats.org/officeDocument/2006/relationships/slide" Target="slides/slide13.xml"/><Relationship Id="rId23" Type="http://schemas.openxmlformats.org/officeDocument/2006/relationships/slide" Target="slides/slide12.xml"/><Relationship Id="rId24" Type="http://schemas.openxmlformats.org/officeDocument/2006/relationships/slide" Target="slides/slide15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karan21v/LendingClub-P2P-Loan-Default-Predic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karan21v/LendingClub-P2P-Loan-Default-Predicti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94944" y="2953512"/>
            <a:ext cx="164592" cy="2377440"/>
          </a:xfrm>
          <a:prstGeom prst="roundRect">
            <a:avLst>
              <a:gd name="adj" fmla="val 27778"/>
            </a:avLst>
          </a:prstGeom>
          <a:solidFill>
            <a:srgbClr val="FB6B5B"/>
          </a:solidFill>
          <a:ln w="1016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60120" y="3154680"/>
            <a:ext cx="164592" cy="2176272"/>
          </a:xfrm>
          <a:prstGeom prst="roundRect">
            <a:avLst>
              <a:gd name="adj" fmla="val 27778"/>
            </a:avLst>
          </a:prstGeom>
          <a:solidFill>
            <a:srgbClr val="FB6B5B"/>
          </a:solidFill>
          <a:ln w="1016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25296" y="3355848"/>
            <a:ext cx="164592" cy="1975104"/>
          </a:xfrm>
          <a:prstGeom prst="roundRect">
            <a:avLst>
              <a:gd name="adj" fmla="val 27778"/>
            </a:avLst>
          </a:prstGeom>
          <a:solidFill>
            <a:srgbClr val="FB6B5B"/>
          </a:solidFill>
          <a:ln w="1016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90472" y="3557016"/>
            <a:ext cx="164592" cy="1773936"/>
          </a:xfrm>
          <a:prstGeom prst="roundRect">
            <a:avLst>
              <a:gd name="adj" fmla="val 27778"/>
            </a:avLst>
          </a:prstGeom>
          <a:solidFill>
            <a:srgbClr val="7463DF"/>
          </a:solidFill>
          <a:ln w="10160">
            <a:solidFill>
              <a:srgbClr val="7463D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55648" y="3758184"/>
            <a:ext cx="164592" cy="1572768"/>
          </a:xfrm>
          <a:prstGeom prst="roundRect">
            <a:avLst>
              <a:gd name="adj" fmla="val 27778"/>
            </a:avLst>
          </a:prstGeom>
          <a:solidFill>
            <a:srgbClr val="7463DF"/>
          </a:solidFill>
          <a:ln w="10160">
            <a:solidFill>
              <a:srgbClr val="7463D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20824" y="3959352"/>
            <a:ext cx="164592" cy="1371600"/>
          </a:xfrm>
          <a:prstGeom prst="roundRect">
            <a:avLst>
              <a:gd name="adj" fmla="val 27778"/>
            </a:avLst>
          </a:prstGeom>
          <a:solidFill>
            <a:srgbClr val="7463DF"/>
          </a:solidFill>
          <a:ln w="10160">
            <a:solidFill>
              <a:srgbClr val="7463D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286000" y="4160520"/>
            <a:ext cx="164592" cy="1170432"/>
          </a:xfrm>
          <a:prstGeom prst="roundRect">
            <a:avLst>
              <a:gd name="adj" fmla="val 27778"/>
            </a:avLst>
          </a:prstGeom>
          <a:solidFill>
            <a:srgbClr val="7463DF"/>
          </a:solidFill>
          <a:ln w="10160">
            <a:solidFill>
              <a:srgbClr val="7463D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551176" y="4361688"/>
            <a:ext cx="164592" cy="969264"/>
          </a:xfrm>
          <a:prstGeom prst="roundRect">
            <a:avLst>
              <a:gd name="adj" fmla="val 27778"/>
            </a:avLst>
          </a:prstGeom>
          <a:solidFill>
            <a:srgbClr val="7463DF"/>
          </a:solidFill>
          <a:ln w="10160">
            <a:solidFill>
              <a:srgbClr val="7463D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16352" y="4562856"/>
            <a:ext cx="164592" cy="768096"/>
          </a:xfrm>
          <a:prstGeom prst="roundRect">
            <a:avLst>
              <a:gd name="adj" fmla="val 27778"/>
            </a:avLst>
          </a:prstGeom>
          <a:solidFill>
            <a:srgbClr val="7463DF"/>
          </a:solidFill>
          <a:ln w="10160">
            <a:solidFill>
              <a:srgbClr val="7463D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1520" y="640080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242052"/>
          </a:solidFill>
          <a:ln w="10160">
            <a:solidFill>
              <a:srgbClr val="2420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" y="65836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B2A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•  ML MINI-PROJECT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3794760" y="950976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3400" b="1">
                <a:solidFill>
                  <a:srgbClr val="FFFFFF"/>
                </a:solidFill>
                <a:latin typeface="Aptos"/>
              </a:rPr>
              <a:t>Lending Club P2P Loan
Default Prediction</a:t>
            </a:r>
            <a:endParaRPr lang="en-US" sz="3350" dirty="0"/>
          </a:p>
        </p:txBody>
      </p:sp>
      <p:sp>
        <p:nvSpPr>
          <p:cNvPr id="15" name="Text 13"/>
          <p:cNvSpPr/>
          <p:nvPr/>
        </p:nvSpPr>
        <p:spPr>
          <a:xfrm>
            <a:off x="3813048" y="298094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800">
                <a:solidFill>
                  <a:srgbClr val="C8C2EA"/>
                </a:solidFill>
                <a:latin typeface="Aptos"/>
              </a:rPr>
              <a:t>Default-risk classification + profitability ranking + interactive loan analysis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3794760" y="3986784"/>
            <a:ext cx="7525512" cy="0"/>
          </a:xfrm>
          <a:prstGeom prst="line">
            <a:avLst/>
          </a:prstGeom>
          <a:noFill/>
          <a:ln w="17780">
            <a:solidFill>
              <a:srgbClr val="49447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813048" y="4270248"/>
            <a:ext cx="5852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Karan Varshney  (PES2UG24CS903)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Sai Karthik  (PES2UG24CS141)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3813048" y="5239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2A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UE24CS352A  ·  Problem 39</a:t>
            </a:r>
            <a:endParaRPr lang="en-US" sz="120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3813048" y="5943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BCB5F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/>
              </a:rPr>
              <a:t>github.com/karan21v/LendingClub-P2P-Loan-Default-Prediction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01 / PROBLEM FRAMING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loan application. Three useful answers.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aim is to support decisions before funding—not merely label a historical loan.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2</a:t>
            </a:r>
          </a:p>
        </p:txBody>
      </p:sp>
      <p:sp>
        <p:nvSpPr>
          <p:cNvPr id="9" name="Shape 7"/>
          <p:cNvSpPr/>
          <p:nvPr/>
        </p:nvSpPr>
        <p:spPr>
          <a:xfrm>
            <a:off x="603504" y="1847088"/>
            <a:ext cx="3520440" cy="3364992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066544"/>
            <a:ext cx="557784" cy="521208"/>
          </a:xfrm>
          <a:prstGeom prst="roundRect">
            <a:avLst>
              <a:gd name="adj" fmla="val 15789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12140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1248" y="2889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328416"/>
            <a:ext cx="3026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this loan default?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" y="434340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estimated default probability</a:t>
            </a:r>
            <a:endParaRPr lang="en-US" sz="1290" dirty="0"/>
          </a:p>
        </p:txBody>
      </p:sp>
      <p:sp>
        <p:nvSpPr>
          <p:cNvPr id="15" name="Text 13"/>
          <p:cNvSpPr/>
          <p:nvPr/>
        </p:nvSpPr>
        <p:spPr>
          <a:xfrm>
            <a:off x="4187952" y="3099816"/>
            <a:ext cx="283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B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17136" y="1847088"/>
            <a:ext cx="3520440" cy="3364992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36592" y="2066544"/>
            <a:ext cx="557784" cy="521208"/>
          </a:xfrm>
          <a:prstGeom prst="roundRect">
            <a:avLst>
              <a:gd name="adj" fmla="val 15789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82312" y="212140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754880" y="2889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3328416"/>
            <a:ext cx="3026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return could it yield?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54880" y="434340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predicted Net Annualized Return</a:t>
            </a:r>
            <a:endParaRPr lang="en-US" sz="1290" dirty="0"/>
          </a:p>
        </p:txBody>
      </p:sp>
      <p:sp>
        <p:nvSpPr>
          <p:cNvPr id="22" name="Text 20"/>
          <p:cNvSpPr/>
          <p:nvPr/>
        </p:nvSpPr>
        <p:spPr>
          <a:xfrm>
            <a:off x="8101584" y="3099816"/>
            <a:ext cx="283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B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8430768" y="1847088"/>
            <a:ext cx="3520440" cy="3364992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650224" y="2066544"/>
            <a:ext cx="557784" cy="521208"/>
          </a:xfrm>
          <a:prstGeom prst="roundRect">
            <a:avLst>
              <a:gd name="adj" fmla="val 15789"/>
            </a:avLst>
          </a:prstGeom>
          <a:solidFill>
            <a:srgbClr val="FFF0EB"/>
          </a:solidFill>
          <a:ln w="10160">
            <a:solidFill>
              <a:srgbClr val="FFF0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95944" y="212140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B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668512" y="2889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68512" y="3328416"/>
            <a:ext cx="3026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this loan be selected?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68512" y="434340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INVEST / DO NOT INVEST</a:t>
            </a:r>
            <a:endParaRPr lang="en-US" sz="1290" dirty="0"/>
          </a:p>
        </p:txBody>
      </p:sp>
      <p:sp>
        <p:nvSpPr>
          <p:cNvPr id="29" name="Shape 27"/>
          <p:cNvSpPr/>
          <p:nvPr/>
        </p:nvSpPr>
        <p:spPr>
          <a:xfrm>
            <a:off x="612648" y="5596128"/>
            <a:ext cx="10981944" cy="502920"/>
          </a:xfrm>
          <a:prstGeom prst="roundRect">
            <a:avLst>
              <a:gd name="adj" fmla="val 20000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22960" y="5687568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trained models supply separate signals; the validated NAR threshold creates the investment recommendation.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02 / DATA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large, labelled public dataset — no synthetic outcomes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LendingClub loans; issue year 2012–2015; retain finalized Fully Paid / Charged Off / Default.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3</a:t>
            </a:r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4892040" cy="36118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59536" y="20482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FINALIZED LOANS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" y="23500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786,820</a:t>
            </a:r>
            <a:endParaRPr lang="en-US" sz="4300" dirty="0"/>
          </a:p>
        </p:txBody>
      </p:sp>
      <p:sp>
        <p:nvSpPr>
          <p:cNvPr id="12" name="Text 10"/>
          <p:cNvSpPr/>
          <p:nvPr/>
        </p:nvSpPr>
        <p:spPr>
          <a:xfrm>
            <a:off x="859536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DISTRIBUTION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" y="3758184"/>
            <a:ext cx="3300984" cy="320040"/>
          </a:xfrm>
          <a:prstGeom prst="roundRect">
            <a:avLst>
              <a:gd name="adj" fmla="val 5714"/>
            </a:avLst>
          </a:prstGeom>
          <a:solidFill>
            <a:srgbClr val="7463DF"/>
          </a:solidFill>
          <a:ln w="10160">
            <a:solidFill>
              <a:srgbClr val="7463D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178808" y="3758184"/>
            <a:ext cx="740664" cy="320040"/>
          </a:xfrm>
          <a:prstGeom prst="roundRect">
            <a:avLst>
              <a:gd name="adj" fmla="val 5714"/>
            </a:avLst>
          </a:prstGeom>
          <a:solidFill>
            <a:srgbClr val="FB6B5B"/>
          </a:solidFill>
          <a:ln w="1016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2793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81.36% Fully Paid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868680" y="471830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B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18.64% Default / Charged Off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5687568" y="1792224"/>
            <a:ext cx="5907024" cy="3602736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pic>
        <p:nvPicPr>
          <p:cNvPr id="18" name="Image 0" descr="/mnt/data/report_assets/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0526" y="1938528"/>
            <a:ext cx="3961107" cy="326440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21792" y="5605272"/>
            <a:ext cx="2185416" cy="347472"/>
          </a:xfrm>
          <a:prstGeom prst="roundRect">
            <a:avLst>
              <a:gd name="adj" fmla="val 21053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22376" y="56235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loaded columns</a:t>
            </a:r>
            <a:endParaRPr lang="en-US" sz="1070" dirty="0"/>
          </a:p>
        </p:txBody>
      </p:sp>
      <p:sp>
        <p:nvSpPr>
          <p:cNvPr id="21" name="Shape 18"/>
          <p:cNvSpPr/>
          <p:nvPr/>
        </p:nvSpPr>
        <p:spPr>
          <a:xfrm>
            <a:off x="2953512" y="5605272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054096" y="56235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numeric + 8 categorical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6455664" y="5605272"/>
            <a:ext cx="2359152" cy="347472"/>
          </a:xfrm>
          <a:prstGeom prst="roundRect">
            <a:avLst>
              <a:gd name="adj" fmla="val 21053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556248" y="56235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/ 15 / 15 split</a:t>
            </a:r>
            <a:endParaRPr lang="en-US" sz="1070" dirty="0"/>
          </a:p>
        </p:txBody>
      </p:sp>
      <p:sp>
        <p:nvSpPr>
          <p:cNvPr id="25" name="Shape 22"/>
          <p:cNvSpPr/>
          <p:nvPr/>
        </p:nvSpPr>
        <p:spPr>
          <a:xfrm>
            <a:off x="8997696" y="5605272"/>
            <a:ext cx="2578608" cy="347472"/>
          </a:xfrm>
          <a:prstGeom prst="roundRect">
            <a:avLst>
              <a:gd name="adj" fmla="val 21053"/>
            </a:avLst>
          </a:prstGeom>
          <a:solidFill>
            <a:srgbClr val="FFF0EB"/>
          </a:solidFill>
          <a:ln w="10160">
            <a:solidFill>
              <a:srgbClr val="FFF0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09828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C3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200k training sample</a:t>
            </a:r>
            <a:endParaRPr lang="en-US" sz="10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>
            <a:solidFill>
              <a:srgbClr val="FB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03 /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B173F"/>
                </a:solidFill>
                <a:latin typeface="Aptos"/>
              </a:rPr>
              <a:t>Borrower-level risk signals differ by loan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5D7D"/>
                </a:solidFill>
                <a:latin typeface="Aptos"/>
              </a:rPr>
              <a:t>Defaults show somewhat higher debt burden and lower credit scores, but the distributions still overlap.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528816"/>
            <a:ext cx="11009376" cy="1828"/>
          </a:xfrm>
          <a:prstGeom prst="rect">
            <a:avLst/>
          </a:prstGeom>
          <a:solidFill>
            <a:srgbClr val="E6E3F0"/>
          </a:solidFill>
          <a:ln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65392"/>
            <a:ext cx="8046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5D7D"/>
                </a:solidFill>
                <a:latin typeface="Aptos"/>
              </a:rPr>
              <a:t>TEAM 14  /  UE24CS352A  /  PROBLEM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178308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75104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DTI BY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975104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FICO SCORE BY OUTCOME</a:t>
            </a:r>
          </a:p>
        </p:txBody>
      </p:sp>
      <p:pic>
        <p:nvPicPr>
          <p:cNvPr id="13" name="Picture 12" descr="image(20261015-02384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89" y="2331720"/>
            <a:ext cx="4017981" cy="2834640"/>
          </a:xfrm>
          <a:prstGeom prst="rect">
            <a:avLst/>
          </a:prstGeom>
        </p:spPr>
      </p:pic>
      <p:pic>
        <p:nvPicPr>
          <p:cNvPr id="14" name="Picture 13" descr="image(20261015-02385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706" y="2331720"/>
            <a:ext cx="3989091" cy="2834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5349240"/>
            <a:ext cx="4709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Defaulted loans have a higher median DTI, indicating greater debt burden.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5349240"/>
            <a:ext cx="4709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Fully paid loans have a higher median FICO, consistent with stronger credit quality.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870448"/>
            <a:ext cx="10058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5D7D"/>
                </a:solidFill>
                <a:latin typeface="Aptos"/>
              </a:rPr>
              <a:t>These are predictive signals with substantial overlap — neither feature alone determines the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04 / FEATURES, PREPROCESSING &amp; LEAKAGE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750" b="1">
                <a:solidFill>
                  <a:srgbClr val="1B173F"/>
                </a:solidFill>
                <a:latin typeface="Aptos"/>
              </a:rPr>
              <a:t>What the model sees - and what it is never allowed to see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80" b="0">
                <a:solidFill>
                  <a:srgbClr val="625F7A"/>
                </a:solidFill>
                <a:latin typeface="Aptos"/>
              </a:rPr>
              <a:t>Origination-time variables are engineered and transformed inside a pipeline fitted only on training data.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5</a:t>
            </a:r>
          </a:p>
        </p:txBody>
      </p:sp>
      <p:sp>
        <p:nvSpPr>
          <p:cNvPr id="9" name="Shape 7"/>
          <p:cNvSpPr/>
          <p:nvPr/>
        </p:nvSpPr>
        <p:spPr>
          <a:xfrm>
            <a:off x="612648" y="1783080"/>
            <a:ext cx="5358384" cy="2496312"/>
          </a:xfrm>
          <a:prstGeom prst="roundRect">
            <a:avLst>
              <a:gd name="adj" fmla="val 5495"/>
            </a:avLst>
          </a:prstGeom>
          <a:solidFill>
            <a:srgbClr val="E6F5EE"/>
          </a:solidFill>
          <a:ln w="10160">
            <a:solidFill>
              <a:srgbClr val="E6F5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77824" y="2011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58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— KNOWN AT ORIGINATION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2532888"/>
            <a:ext cx="48188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amount · interest rate · term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 · DTI · FICO · loan grade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history · account variables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90488" y="1783080"/>
            <a:ext cx="5376672" cy="2496312"/>
          </a:xfrm>
          <a:prstGeom prst="roundRect">
            <a:avLst>
              <a:gd name="adj" fmla="val 5495"/>
            </a:avLst>
          </a:prstGeom>
          <a:solidFill>
            <a:srgbClr val="FFF0EB"/>
          </a:solidFill>
          <a:ln w="10160">
            <a:solidFill>
              <a:srgbClr val="FFF0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73952" y="2011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3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WITHHELD — KNOWN LATER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73952" y="256946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total_pymnt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last_pymnt_d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73952" y="3557016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construct historical NAR target only, never as model input.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58368" y="46542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00" b="1">
                <a:solidFill>
                  <a:srgbClr val="7463DF"/>
                </a:solidFill>
                <a:latin typeface="Aptos"/>
              </a:rPr>
              <a:t>FEATURE + PREPROCESSING PIPELINE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" y="5056632"/>
            <a:ext cx="265176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40664" y="52212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" y="5265115"/>
            <a:ext cx="155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" y="5248656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50" b="1">
                <a:solidFill>
                  <a:srgbClr val="1B173F"/>
                </a:solidFill>
                <a:latin typeface="Aptos"/>
              </a:rPr>
              <a:t>Feature engineering
term • FICO • credit age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3310128" y="52486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93008" y="5056632"/>
            <a:ext cx="265176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611880" y="52212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698748" y="5265115"/>
            <a:ext cx="155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32504" y="5248656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50" b="1">
                <a:solidFill>
                  <a:srgbClr val="1B173F"/>
                </a:solidFill>
                <a:latin typeface="Aptos"/>
              </a:rPr>
              <a:t>Imputation
median • most-frequent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6181344" y="52486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64224" y="5056632"/>
            <a:ext cx="265176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483096" y="52212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69964" y="5265115"/>
            <a:ext cx="155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5248656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50" b="1">
                <a:solidFill>
                  <a:srgbClr val="1B173F"/>
                </a:solidFill>
                <a:latin typeface="Aptos"/>
              </a:rPr>
              <a:t>Encoding + scaling
one-hot • StandardScaler</a:t>
            </a:r>
            <a:endParaRPr lang="en-US" sz="1270" dirty="0"/>
          </a:p>
        </p:txBody>
      </p:sp>
      <p:sp>
        <p:nvSpPr>
          <p:cNvPr id="31" name="Text 29"/>
          <p:cNvSpPr/>
          <p:nvPr/>
        </p:nvSpPr>
        <p:spPr>
          <a:xfrm>
            <a:off x="9052560" y="52486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235440" y="5056632"/>
            <a:ext cx="265176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354312" y="52212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441180" y="5265115"/>
            <a:ext cx="155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74936" y="5248656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50" b="1">
                <a:solidFill>
                  <a:srgbClr val="1B173F"/>
                </a:solidFill>
                <a:latin typeface="Aptos"/>
              </a:rPr>
              <a:t>Train-only fitting
prevents leakage</a:t>
            </a:r>
            <a:endParaRPr lang="en-US" sz="12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2918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05 / CLASSIFICATION OBJECTIVE &amp;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1018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>
                <a:solidFill>
                  <a:srgbClr val="1B173F"/>
                </a:solidFill>
                <a:latin typeface="Aptos"/>
              </a:rPr>
              <a:t>Predict default probability, then convert it into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625F7A"/>
                </a:solidFill>
                <a:latin typeface="Aptos"/>
              </a:rPr>
              <a:t>Three candidate classifiers are compared; validation default-F1 determines the winner because defaults are only 18.6%.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528816"/>
            <a:ext cx="11009376" cy="5486"/>
          </a:xfrm>
          <a:prstGeom prst="rect">
            <a:avLst/>
          </a:prstGeom>
          <a:solidFill>
            <a:srgbClr val="E2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6539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25F7A"/>
                </a:solidFill>
                <a:latin typeface="Aptos"/>
              </a:rPr>
              <a:t>TEAM 14  /  UE24CS352A  /  PROBLEM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5136" y="656539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2743200" cy="2148840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463DF"/>
                </a:solidFill>
                <a:latin typeface="Aptos"/>
              </a:rPr>
              <a:t>INPUT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060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173F"/>
                </a:solidFill>
                <a:latin typeface="Aptos"/>
              </a:rPr>
              <a:t>Loan amount • rate • term
Income • DTI • FICO • grade
Credit history • account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606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B6B5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874519"/>
            <a:ext cx="2743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463DF"/>
                </a:solidFill>
                <a:latin typeface="Aptos"/>
              </a:rPr>
              <a:t>MODELS COMPARED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791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173F"/>
                </a:solidFill>
                <a:latin typeface="Aptos"/>
              </a:rPr>
              <a:t>Logistic Regression
MLP Neural Network
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25F7A"/>
                </a:solidFill>
                <a:latin typeface="Aptos"/>
              </a:rPr>
              <a:t>Dummy baseline for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606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B6B5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874519"/>
            <a:ext cx="2971800" cy="2148840"/>
          </a:xfrm>
          <a:prstGeom prst="roundRect">
            <a:avLst/>
          </a:prstGeom>
          <a:solidFill>
            <a:srgbClr val="FFF0EB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6" y="20574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6B5B"/>
                </a:solidFill>
                <a:latin typeface="Aptos"/>
              </a:rPr>
              <a:t>MODEL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6517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173F"/>
                </a:solidFill>
                <a:latin typeface="Aptos"/>
              </a:rPr>
              <a:t>Default probability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25F7A"/>
                </a:solidFill>
                <a:latin typeface="Aptos"/>
              </a:rPr>
              <a:t>Decision threshold selected on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4709160"/>
            <a:ext cx="9052560" cy="685800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ED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7632" y="4919472"/>
            <a:ext cx="8641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B173F"/>
                </a:solidFill>
                <a:latin typeface="Aptos"/>
              </a:rPr>
              <a:t>Selection metric: default-class F1  •  chosen model = Logistic Regression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06 / CLASSIFICATION MODEL SELECTION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800" b="1">
                <a:solidFill>
                  <a:srgbClr val="1B173F"/>
                </a:solidFill>
                <a:latin typeface="Aptos"/>
              </a:rPr>
              <a:t>Validation identifies Logistic Regression as the strongest default detector</a:t>
            </a:r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>
                <a:solidFill>
                  <a:srgbClr val="635D7D"/>
                </a:solidFill>
                <a:latin typeface="Aptos"/>
              </a:rPr>
              <a:t>Default-class F1 is the selection metric because defaults are the minority class.</a:t>
            </a:r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5760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t>CLASSIFICATION MODEL COMPARISON — VALIDATION</a:t>
            </a:r>
          </a:p>
        </p:txBody>
      </p:sp>
      <p:pic>
        <p:nvPicPr>
          <p:cNvPr id="13" name="Picture 12" descr="class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176272"/>
            <a:ext cx="9692640" cy="29077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" y="5257800"/>
            <a:ext cx="1014984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t>Logistic Regression provides the strongest default-class F1 among the tested models; high weighted scores alone can hide poor default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>
            <a:solidFill>
              <a:srgbClr val="FB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07 / CLASSIFICATION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B173F"/>
                </a:solidFill>
                <a:latin typeface="Aptos"/>
              </a:rPr>
              <a:t>Validation selects 0.54 as the operating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5D7D"/>
                </a:solidFill>
                <a:latin typeface="Aptos"/>
              </a:rPr>
              <a:t>Raising the default-probability cutoff trades recall for precision; default-class F1 peaks near the selected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528816"/>
            <a:ext cx="11009376" cy="1828"/>
          </a:xfrm>
          <a:prstGeom prst="rect">
            <a:avLst/>
          </a:prstGeom>
          <a:solidFill>
            <a:srgbClr val="E6E3F0"/>
          </a:solidFill>
          <a:ln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65392"/>
            <a:ext cx="8046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5D7D"/>
                </a:solidFill>
                <a:latin typeface="Aptos"/>
              </a:rPr>
              <a:t>TEAM 14  /  UE24CS352A  /  PROBLEM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109728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(20261015-02394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896" y="2057400"/>
            <a:ext cx="5916583" cy="3337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541324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7463DF"/>
                </a:solidFill>
                <a:latin typeface="Aptos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65099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B173F"/>
                </a:solidFill>
                <a:latin typeface="Aptos"/>
              </a:rPr>
              <a:t>falls as the threshold increases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541324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7463DF"/>
                </a:solidFill>
                <a:latin typeface="Aptos"/>
              </a:rPr>
              <a:t>SELECTED CUTOFF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5605272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B173F"/>
                </a:solidFill>
                <a:latin typeface="Aptos"/>
              </a:rPr>
              <a:t>0.54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413248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7463DF"/>
                </a:solidFill>
                <a:latin typeface="Aptos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65099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B173F"/>
                </a:solidFill>
                <a:latin typeface="Aptos"/>
              </a:rPr>
              <a:t>rises as predictions become stricter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08 / FINAL CLASSIFICATION TEST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700" b="1">
                <a:solidFill>
                  <a:srgbClr val="1B173F"/>
                </a:solidFill>
                <a:latin typeface="Aptos"/>
              </a:rPr>
              <a:t>Held-out test evidence: what the selected classifier gets right and wrong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00">
                <a:solidFill>
                  <a:srgbClr val="635D7D"/>
                </a:solidFill>
                <a:latin typeface="Aptos"/>
              </a:rPr>
              <a:t>118,023 unseen loans • model and threshold already fixed from validation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9</a:t>
            </a:r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4727448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59536" y="20482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46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DETECTION ON TEST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" y="2523744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800" b="1">
                <a:solidFill>
                  <a:srgbClr val="7463DF"/>
                </a:solidFill>
                <a:latin typeface="Aptos"/>
              </a:rPr>
              <a:t>32.7%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96312" y="2542032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510" dirty="0"/>
          </a:p>
        </p:txBody>
      </p:sp>
      <p:sp>
        <p:nvSpPr>
          <p:cNvPr id="13" name="Text 11"/>
          <p:cNvSpPr/>
          <p:nvPr/>
        </p:nvSpPr>
        <p:spPr>
          <a:xfrm>
            <a:off x="2496312" y="2916936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one in three default flags was correct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77824" y="3392424"/>
            <a:ext cx="4096512" cy="0"/>
          </a:xfrm>
          <a:prstGeom prst="line">
            <a:avLst/>
          </a:prstGeom>
          <a:noFill/>
          <a:ln w="889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9536" y="3511296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800" b="1">
                <a:solidFill>
                  <a:srgbClr val="7463DF"/>
                </a:solidFill>
                <a:latin typeface="Aptos"/>
              </a:rPr>
              <a:t>58.9%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96312" y="352958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510" dirty="0"/>
          </a:p>
        </p:txBody>
      </p:sp>
      <p:sp>
        <p:nvSpPr>
          <p:cNvPr id="17" name="Text 15"/>
          <p:cNvSpPr/>
          <p:nvPr/>
        </p:nvSpPr>
        <p:spPr>
          <a:xfrm>
            <a:off x="2496312" y="390448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12,948 of 21,995 defaults detected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77824" y="4379976"/>
            <a:ext cx="4096512" cy="0"/>
          </a:xfrm>
          <a:prstGeom prst="line">
            <a:avLst/>
          </a:prstGeom>
          <a:noFill/>
          <a:ln w="889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9536" y="4498848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800" b="1">
                <a:solidFill>
                  <a:srgbClr val="7463DF"/>
                </a:solidFill>
                <a:latin typeface="Aptos"/>
              </a:rPr>
              <a:t>42.1%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496312" y="451713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score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2496312" y="489204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Balances false alarms and missed defaults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5532120" y="1783080"/>
            <a:ext cx="6062472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58952" y="6062472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FFF0EB"/>
          </a:solidFill>
          <a:ln w="10160">
            <a:solidFill>
              <a:srgbClr val="FFF0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859536" y="60807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C3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threshold 0.54</a:t>
            </a:r>
            <a:endParaRPr lang="en-US" sz="1070" dirty="0"/>
          </a:p>
        </p:txBody>
      </p:sp>
      <p:sp>
        <p:nvSpPr>
          <p:cNvPr id="26" name="Text 23"/>
          <p:cNvSpPr/>
          <p:nvPr/>
        </p:nvSpPr>
        <p:spPr>
          <a:xfrm>
            <a:off x="3566160" y="6080760"/>
            <a:ext cx="7214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50" b="1">
                <a:solidFill>
                  <a:srgbClr val="1B173F"/>
                </a:solidFill>
                <a:latin typeface="Aptos"/>
              </a:rPr>
              <a:t>Default threshold 0.54</a:t>
            </a:r>
            <a:endParaRPr lang="en-US" sz="1190" dirty="0"/>
          </a:p>
        </p:txBody>
      </p:sp>
      <p:pic>
        <p:nvPicPr>
          <p:cNvPr id="27" name="Picture 26" descr="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474" y="1874519"/>
            <a:ext cx="5176611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09 / FINAL CLASSIFICATION RESULTS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700" b="1">
                <a:solidFill>
                  <a:srgbClr val="1B173F"/>
                </a:solidFill>
                <a:latin typeface="Aptos"/>
              </a:rPr>
              <a:t>Final classification performance on the held-out test set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00">
                <a:solidFill>
                  <a:srgbClr val="635D7D"/>
                </a:solidFill>
                <a:latin typeface="Aptos"/>
              </a:rPr>
              <a:t>These are final test results. The model and 0.54 threshold were already fixed before TEST.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658368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c_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410" y="1938528"/>
            <a:ext cx="3082722" cy="40599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88352" y="1755648"/>
            <a:ext cx="420624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011680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HELD-OUT TEST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487168"/>
            <a:ext cx="2148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35D7D"/>
                </a:solidFill>
                <a:latin typeface="Aptos"/>
              </a:rPr>
              <a:t>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3808" y="2459736"/>
            <a:ext cx="117043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1B173F"/>
                </a:solidFill>
                <a:latin typeface="Aptos"/>
              </a:rPr>
              <a:t>0.720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090672"/>
            <a:ext cx="2148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35D7D"/>
                </a:solidFill>
                <a:latin typeface="Aptos"/>
              </a:rPr>
              <a:t>PR / Average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808" y="3063240"/>
            <a:ext cx="117043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1B173F"/>
                </a:solidFill>
                <a:latin typeface="Aptos"/>
              </a:rPr>
              <a:t>0.368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694176"/>
            <a:ext cx="2148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35D7D"/>
                </a:solidFill>
                <a:latin typeface="Aptos"/>
              </a:rPr>
              <a:t>Default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8" y="3666744"/>
            <a:ext cx="117043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1B173F"/>
                </a:solidFill>
                <a:latin typeface="Aptos"/>
              </a:rPr>
              <a:t>0.327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4297680"/>
            <a:ext cx="2148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35D7D"/>
                </a:solidFill>
                <a:latin typeface="Aptos"/>
              </a:rPr>
              <a:t>Default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4270248"/>
            <a:ext cx="117043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1B173F"/>
                </a:solidFill>
                <a:latin typeface="Aptos"/>
              </a:rPr>
              <a:t>0.589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901184"/>
            <a:ext cx="21488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35D7D"/>
                </a:solidFill>
                <a:latin typeface="Aptos"/>
              </a:rPr>
              <a:t>Default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4873752"/>
            <a:ext cx="117043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1B173F"/>
                </a:solidFill>
                <a:latin typeface="Aptos"/>
              </a:rPr>
              <a:t>0.421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5541264"/>
            <a:ext cx="3621024" cy="402336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ED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5559552"/>
            <a:ext cx="329184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B173F"/>
                </a:solidFill>
                <a:latin typeface="Aptos"/>
              </a:rPr>
              <a:t>ROC &gt; random diagonal; PR is more informative for the 18.6% default minority.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10 / NAR &amp; PROFITABILITY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750" b="1">
                <a:solidFill>
                  <a:srgbClr val="1B173F"/>
                </a:solidFill>
                <a:latin typeface="Aptos"/>
              </a:rPr>
              <a:t>Constructing the profitability target</a:t>
            </a:r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80" b="0">
                <a:solidFill>
                  <a:srgbClr val="625F7A"/>
                </a:solidFill>
                <a:latin typeface="Aptos"/>
              </a:rPr>
              <a:t>The second task predicts Net Annualized Return (NAR) using the same origination-time feature set.</a:t>
            </a:r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10881360" cy="685800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ED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102412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B173F"/>
                </a:solidFill>
                <a:latin typeface="Aptos"/>
              </a:rPr>
              <a:t>NAR  =  ( total_pymnt / loan_amnt ) ^ ( 365 / days_active )  − 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51760"/>
            <a:ext cx="10927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953512"/>
            <a:ext cx="3246120" cy="2057400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18104"/>
            <a:ext cx="2788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TARGET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2788920" cy="1307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B173F"/>
                </a:solidFill>
                <a:latin typeface="Aptos"/>
              </a:rPr>
              <a:t>Historical payment
+ loan amount
+ active duration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2953512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3118104"/>
            <a:ext cx="2788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LEAKAGE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520440"/>
            <a:ext cx="2788920" cy="1307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B173F"/>
                </a:solidFill>
                <a:latin typeface="Aptos"/>
              </a:rPr>
              <a:t>Payment/date fields create the label only.
They are not predictor inputs.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2953512"/>
            <a:ext cx="3246120" cy="2057400"/>
          </a:xfrm>
          <a:prstGeom prst="roundRect">
            <a:avLst/>
          </a:prstGeom>
          <a:solidFill>
            <a:srgbClr val="FFF0EB"/>
          </a:solidFill>
          <a:ln w="12700"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3118104"/>
            <a:ext cx="2788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B6B5B"/>
                </a:solidFill>
                <a:latin typeface="Aptos"/>
              </a:rPr>
              <a:t>WHY A SECOND MODEL?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520440"/>
            <a:ext cx="2788920" cy="1307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B173F"/>
                </a:solidFill>
                <a:latin typeface="Aptos"/>
              </a:rPr>
              <a:t>Default risk ≠ return.
A repaid loan can still offer weak profitability.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03520"/>
            <a:ext cx="99669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B173F"/>
                </a:solidFill>
                <a:latin typeface="Aptos"/>
              </a:rPr>
              <a:t>Classifier: “Will it default?”   •   Regressor: “What return is expected?”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2918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12 / REGRESSION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1018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>
                <a:solidFill>
                  <a:srgbClr val="1B173F"/>
                </a:solidFill>
                <a:latin typeface="Aptos"/>
              </a:rPr>
              <a:t>Validation selects the Neural Network for NAR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625F7A"/>
                </a:solidFill>
                <a:latin typeface="Aptos"/>
              </a:rPr>
              <a:t>Exact return prediction is difficult; the best validation R² is modest, with Random Forest depth 10 close behind.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528816"/>
            <a:ext cx="11009376" cy="5486"/>
          </a:xfrm>
          <a:prstGeom prst="rect">
            <a:avLst/>
          </a:prstGeom>
          <a:solidFill>
            <a:srgbClr val="E2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6539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25F7A"/>
                </a:solidFill>
                <a:latin typeface="Aptos"/>
              </a:rPr>
              <a:t>TEAM 14  /  UE24CS352A  /  PROBLEM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5136" y="656539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13</a:t>
            </a:r>
          </a:p>
        </p:txBody>
      </p:sp>
      <p:pic>
        <p:nvPicPr>
          <p:cNvPr id="9" name="Picture 8" descr="regression_validation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812280" cy="3337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1828800"/>
            <a:ext cx="3337560" cy="1051560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2057400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463DF"/>
                </a:solidFill>
                <a:latin typeface="Aptos"/>
              </a:rPr>
              <a:t>BEST VALIDATION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39572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B173F"/>
                </a:solidFill>
                <a:latin typeface="Aptos"/>
              </a:rPr>
              <a:t>Neural Network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090672"/>
            <a:ext cx="3337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3319272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463DF"/>
                </a:solidFill>
                <a:latin typeface="Aptos"/>
              </a:rPr>
              <a:t>VALIDATION 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3657600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173F"/>
                </a:solidFill>
                <a:latin typeface="Aptos"/>
              </a:rPr>
              <a:t>≈ 0.040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352544"/>
            <a:ext cx="3337560" cy="1143000"/>
          </a:xfrm>
          <a:prstGeom prst="roundRect">
            <a:avLst/>
          </a:prstGeom>
          <a:solidFill>
            <a:srgbClr val="FFF0EB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4572000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6B5B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489204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173F"/>
                </a:solidFill>
                <a:latin typeface="Aptos"/>
              </a:rPr>
              <a:t>Use NAR primarily as a ranking signal,
not an exact return forecast.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4864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40" b="0">
                <a:solidFill>
                  <a:srgbClr val="625F7A"/>
                </a:solidFill>
                <a:latin typeface="Aptos"/>
              </a:rPr>
              <a:t>RF depth 10 ≈ 0.039; several models are close, showing that loan-level return is intrinsically noisy.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>
            <a:solidFill>
              <a:srgbClr val="FB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13 / HELD-OUT REGRESSION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B173F"/>
                </a:solidFill>
                <a:latin typeface="Aptos"/>
              </a:rPr>
              <a:t>Held-out residuals show concentrated errors with a long loss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5D7D"/>
                </a:solidFill>
                <a:latin typeface="Aptos"/>
              </a:rPr>
              <a:t>Residual = actual NAR − predicted NAR. Zero is perfect; extreme-loss loans remain the hardest cases.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528816"/>
            <a:ext cx="11009376" cy="1828"/>
          </a:xfrm>
          <a:prstGeom prst="rect">
            <a:avLst/>
          </a:prstGeom>
          <a:solidFill>
            <a:srgbClr val="E6E3F0"/>
          </a:solidFill>
          <a:ln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65392"/>
            <a:ext cx="8046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5D7D"/>
                </a:solidFill>
                <a:latin typeface="Aptos"/>
              </a:rPr>
              <a:t>TEAM 14  /  UE24CS352A  /  PROBLEM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731520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56448" y="1783080"/>
            <a:ext cx="33832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567" y="2084831"/>
            <a:ext cx="5197928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85632" y="2103120"/>
            <a:ext cx="2697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WHAT THE PLOT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542032"/>
            <a:ext cx="2697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173F"/>
                </a:solidFill>
                <a:latin typeface="Aptos"/>
              </a:rPr>
              <a:t>Most residuals cluster near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236976"/>
            <a:ext cx="2697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35D7D"/>
                </a:solidFill>
                <a:latin typeface="Aptos"/>
              </a:rPr>
              <a:t>Typical loans are predicted more closely than the severe-loss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096512"/>
            <a:ext cx="2697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173F"/>
                </a:solidFill>
                <a:latin typeface="Aptos"/>
              </a:rPr>
              <a:t>Long negative 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645152"/>
            <a:ext cx="26974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35D7D"/>
                </a:solidFill>
                <a:latin typeface="Aptos"/>
              </a:rPr>
              <a:t>The regressor tends to overestimate returns for some extreme bad outcomes, which helps explain the low R².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14 / INVESTMENT THRESHOLD SELECTION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1B173F"/>
                </a:solidFill>
                <a:latin typeface="Aptos"/>
              </a:rPr>
              <a:t>Validation determines the NAR cutoff used for loan selection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00">
                <a:solidFill>
                  <a:srgbClr val="635D7D"/>
                </a:solidFill>
                <a:latin typeface="Aptos"/>
              </a:rPr>
              <a:t>The investment rule is fixed on validation data before profitability is evaluated on the test set.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737360"/>
            <a:ext cx="5486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5352" y="17373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2976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VALIDATION — THRESHOLD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38528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TEST — RANKING BEHAVIOUR</a:t>
            </a:r>
          </a:p>
        </p:txBody>
      </p:sp>
      <p:pic>
        <p:nvPicPr>
          <p:cNvPr id="13" name="Picture 12" descr="inv_thresh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338217"/>
            <a:ext cx="5084064" cy="2922228"/>
          </a:xfrm>
          <a:prstGeom prst="rect">
            <a:avLst/>
          </a:prstGeom>
        </p:spPr>
      </p:pic>
      <p:pic>
        <p:nvPicPr>
          <p:cNvPr id="14" name="Picture 13" descr="invest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380955"/>
            <a:ext cx="4974336" cy="2836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5468112"/>
            <a:ext cx="484632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B173F"/>
                </a:solidFill>
                <a:latin typeface="Aptos"/>
              </a:rPr>
              <a:t>Selected investment threshold: 7.16% predicted 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394960"/>
            <a:ext cx="475488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73F"/>
                </a:solidFill>
                <a:latin typeface="Aptos"/>
              </a:rPr>
              <a:t>Top-ranked test loans start near ~5.9% realized mean NAR; return declines as more loans are included.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1945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173F"/>
                </a:solidFill>
                <a:latin typeface="Aptos"/>
              </a:rPr>
              <a:t>Why validation?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834640"/>
            <a:ext cx="4434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25F7A"/>
                </a:solidFill>
                <a:latin typeface="Aptos"/>
              </a:rPr>
              <a:t>• Predicted NAR is used to rank loans.
• Candidate cutoffs are compared on validation data.
• The chosen cutoff is then frozen before TEST.
• Selected investment threshold: 7.16% predicted NAR.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257800"/>
            <a:ext cx="4297680" cy="594360"/>
          </a:xfrm>
          <a:prstGeom prst="roundRect">
            <a:avLst/>
          </a:prstGeom>
          <a:solidFill>
            <a:srgbClr val="FFF0EB"/>
          </a:solidFill>
          <a:ln w="12700"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5449824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6B5B"/>
                </a:solidFill>
                <a:latin typeface="Aptos"/>
              </a:rPr>
              <a:t>7.16% predicted NAR  →  selected cutoff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2918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15 / HELD-OUT PROFITABILITY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1018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>
                <a:solidFill>
                  <a:srgbClr val="1B173F"/>
                </a:solidFill>
                <a:latin typeface="Aptos"/>
              </a:rPr>
              <a:t>Higher-ranked test loans realize higher historical 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0">
                <a:solidFill>
                  <a:srgbClr val="625F7A"/>
                </a:solidFill>
                <a:latin typeface="Aptos"/>
              </a:rPr>
              <a:t>This is the final profitability check: the investment rule was already fixed on validation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528816"/>
            <a:ext cx="11009376" cy="5486"/>
          </a:xfrm>
          <a:prstGeom prst="rect">
            <a:avLst/>
          </a:prstGeom>
          <a:solidFill>
            <a:srgbClr val="E2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6539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25F7A"/>
                </a:solidFill>
                <a:latin typeface="Aptos"/>
              </a:rPr>
              <a:t>TEAM 14  /  UE24CS352A  /  PROBLEM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5136" y="656539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7315200" cy="4206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75320" y="1828800"/>
            <a:ext cx="2971800" cy="1051560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2057400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463DF"/>
                </a:solidFill>
                <a:latin typeface="Aptos"/>
              </a:rPr>
              <a:t>TOP-RANKED FEW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9572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173F"/>
                </a:solidFill>
                <a:latin typeface="Aptos"/>
              </a:rPr>
              <a:t>≈ 5.9% actual mean NAR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127248"/>
            <a:ext cx="2971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3346704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463DF"/>
                </a:solidFill>
                <a:latin typeface="Aptos"/>
              </a:rPr>
              <a:t>WHAT THE CURVE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685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173F"/>
                </a:solidFill>
                <a:latin typeface="Aptos"/>
              </a:rPr>
              <a:t>As more loans are included,
realized mean NAR falls.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572000"/>
            <a:ext cx="2971800" cy="1234440"/>
          </a:xfrm>
          <a:prstGeom prst="roundRect">
            <a:avLst/>
          </a:prstGeom>
          <a:solidFill>
            <a:srgbClr val="FFF0EB"/>
          </a:solidFill>
          <a:ln w="12700">
            <a:solidFill>
              <a:srgbClr val="E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479145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B6B5B"/>
                </a:solidFill>
                <a:latin typeface="Aptos"/>
              </a:rPr>
              <a:t>MAIN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12064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173F"/>
                </a:solidFill>
                <a:latin typeface="Aptos"/>
              </a:rPr>
              <a:t>Weak exact-value regression can still
produce useful loan ranking.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17 / GUI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1B173F"/>
                </a:solidFill>
                <a:latin typeface="Aptos"/>
              </a:rPr>
              <a:t>Interactive Loan Risk &amp; Return Analyzer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00">
                <a:solidFill>
                  <a:srgbClr val="635D7D"/>
                </a:solidFill>
                <a:latin typeface="Aptos"/>
              </a:rPr>
              <a:t>Enter borrower and loan details to obtain default probability, predicted NAR and an investment decision.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18</a:t>
            </a:r>
          </a:p>
        </p:txBody>
      </p:sp>
      <p:sp>
        <p:nvSpPr>
          <p:cNvPr id="9" name="Shape 7"/>
          <p:cNvSpPr/>
          <p:nvPr/>
        </p:nvSpPr>
        <p:spPr>
          <a:xfrm>
            <a:off x="576072" y="1728216"/>
            <a:ext cx="10963656" cy="3538728"/>
          </a:xfrm>
          <a:prstGeom prst="roundRect">
            <a:avLst>
              <a:gd name="adj" fmla="val 4134"/>
            </a:avLst>
          </a:prstGeom>
          <a:solidFill>
            <a:srgbClr val="1B173F"/>
          </a:solidFill>
          <a:ln w="10160">
            <a:solidFill>
              <a:srgbClr val="1B173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mnt/data/gui_repor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864" y="1828800"/>
            <a:ext cx="7866928" cy="33101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4360" y="5468112"/>
            <a:ext cx="2633472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04088" y="5559552"/>
            <a:ext cx="2386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27.30%</a:t>
            </a:r>
            <a:endParaRPr lang="en-US" sz="1820" dirty="0"/>
          </a:p>
        </p:txBody>
      </p:sp>
      <p:sp>
        <p:nvSpPr>
          <p:cNvPr id="13" name="Text 10"/>
          <p:cNvSpPr/>
          <p:nvPr/>
        </p:nvSpPr>
        <p:spPr>
          <a:xfrm>
            <a:off x="694944" y="584301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risk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429000" y="5468112"/>
            <a:ext cx="2633472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538728" y="5559552"/>
            <a:ext cx="2386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4.39%</a:t>
            </a:r>
            <a:endParaRPr lang="en-US" sz="1820" dirty="0"/>
          </a:p>
        </p:txBody>
      </p:sp>
      <p:sp>
        <p:nvSpPr>
          <p:cNvPr id="16" name="Text 13"/>
          <p:cNvSpPr/>
          <p:nvPr/>
        </p:nvSpPr>
        <p:spPr>
          <a:xfrm>
            <a:off x="3529584" y="584301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NAR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263640" y="5468112"/>
            <a:ext cx="2633472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73368" y="5559552"/>
            <a:ext cx="2386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B1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7.16%</a:t>
            </a:r>
            <a:endParaRPr lang="en-US" sz="1820" dirty="0"/>
          </a:p>
        </p:txBody>
      </p:sp>
      <p:sp>
        <p:nvSpPr>
          <p:cNvPr id="19" name="Text 16"/>
          <p:cNvSpPr/>
          <p:nvPr/>
        </p:nvSpPr>
        <p:spPr>
          <a:xfrm>
            <a:off x="6364224" y="584301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 threshold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9098280" y="5468112"/>
            <a:ext cx="2633472" cy="594360"/>
          </a:xfrm>
          <a:prstGeom prst="roundRect">
            <a:avLst>
              <a:gd name="adj" fmla="val 16923"/>
            </a:avLst>
          </a:prstGeom>
          <a:solidFill>
            <a:srgbClr val="FFF0EB"/>
          </a:solidFill>
          <a:ln w="10160">
            <a:solidFill>
              <a:srgbClr val="FFF0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208008" y="5559552"/>
            <a:ext cx="2386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C34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INVEST</a:t>
            </a:r>
            <a:endParaRPr lang="en-US" sz="1620" dirty="0"/>
          </a:p>
        </p:txBody>
      </p:sp>
      <p:sp>
        <p:nvSpPr>
          <p:cNvPr id="22" name="Text 19"/>
          <p:cNvSpPr/>
          <p:nvPr/>
        </p:nvSpPr>
        <p:spPr>
          <a:xfrm>
            <a:off x="9198864" y="584301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980">
                <a:solidFill>
                  <a:srgbClr val="625F7A"/>
                </a:solidFill>
                <a:latin typeface="Aptos"/>
              </a:rPr>
              <a:t>Investment decision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18 / LIMITATIONS &amp; FUTURE SCOPE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700" b="1">
                <a:solidFill>
                  <a:srgbClr val="1B173F"/>
                </a:solidFill>
                <a:latin typeface="Aptos"/>
              </a:rPr>
              <a:t>Limitations and Future Scope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00">
                <a:solidFill>
                  <a:srgbClr val="635D7D"/>
                </a:solidFill>
                <a:latin typeface="Aptos"/>
              </a:rPr>
              <a:t>Key constraints of the current study and the most useful extensions for stronger generalization.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264408" cy="3593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48256"/>
            <a:ext cx="26517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7463DF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32304"/>
            <a:ext cx="2697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635D7D"/>
                </a:solidFill>
                <a:latin typeface="Aptos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2012–2015 loans may not represent later credit 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74136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LendingClub grade already contains prior risk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03904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Model fitting used a 200,000-loan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33672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Class imbalance remains important for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828800"/>
            <a:ext cx="3264408" cy="3593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2048256"/>
            <a:ext cx="26517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B6B5B"/>
                </a:solidFill>
                <a:latin typeface="Aptos"/>
              </a:rPr>
              <a:t>MODELLING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432304"/>
            <a:ext cx="2697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635D7D"/>
                </a:solidFill>
                <a:latin typeface="Aptos"/>
              </a:rP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944368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NAR regression has low explanatory power (R² ≈ 0.04)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74136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Exact loan-level return prediction remains noisy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03904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False positives remain substantial in default screening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33672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63440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828800"/>
            <a:ext cx="3264408" cy="3593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1" y="2048256"/>
            <a:ext cx="26517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98A62"/>
                </a:solidFill>
                <a:latin typeface="Aptos"/>
              </a:rPr>
              <a:t>FUTURE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1" y="2432304"/>
            <a:ext cx="2697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635D7D"/>
                </a:solidFill>
                <a:latin typeface="Aptos"/>
              </a:rPr>
              <a:t>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944368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Evaluate on later years with a time-based 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374136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Train on the full cohort with greater compute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803904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Run ablation without grade / interest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233672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Add richer borrower, text and macroeconomic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663440"/>
            <a:ext cx="2697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B173F"/>
                </a:solidFill>
                <a:latin typeface="Aptos"/>
              </a:rPr>
              <a:t>• Improve calibration and systematic hyperparameter tuning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650992"/>
            <a:ext cx="9281160" cy="530352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ED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27632" y="5733288"/>
            <a:ext cx="882396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173F"/>
                </a:solidFill>
                <a:latin typeface="Aptos"/>
              </a:rPr>
              <a:t>The main extension is stronger out-of-time validation so performance is tested across changing credit cycles.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FB6B5B"/>
          </a:solidFill>
          <a:ln w="12700">
            <a:solidFill>
              <a:srgbClr val="FB6B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5216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 b="1">
                <a:solidFill>
                  <a:srgbClr val="7463DF"/>
                </a:solidFill>
                <a:latin typeface="Aptos"/>
              </a:rPr>
              <a:t>19 / REFERENCES</a:t>
            </a:r>
          </a:p>
        </p:txBody>
      </p:sp>
      <p:sp>
        <p:nvSpPr>
          <p:cNvPr id="4" name="Text 2"/>
          <p:cNvSpPr/>
          <p:nvPr/>
        </p:nvSpPr>
        <p:spPr>
          <a:xfrm>
            <a:off x="585216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700" b="1">
                <a:solidFill>
                  <a:srgbClr val="1B173F"/>
                </a:solidFill>
                <a:latin typeface="Aptos"/>
              </a:rPr>
              <a:t>References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00">
                <a:solidFill>
                  <a:srgbClr val="635D7D"/>
                </a:solidFill>
                <a:latin typeface="Aptos"/>
              </a:rPr>
              <a:t>Primary reference paper, dataset source and project repository.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85216" y="6528816"/>
            <a:ext cx="11009376" cy="0"/>
          </a:xfrm>
          <a:prstGeom prst="line">
            <a:avLst/>
          </a:prstGeom>
          <a:noFill/>
          <a:ln w="1143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65745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spc="70" kern="0" dirty="0">
                <a:solidFill>
                  <a:srgbClr val="625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14  /  UE24CS352A  /  PROBLEM 39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091672" y="6547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20</a:t>
            </a:r>
          </a:p>
        </p:txBody>
      </p:sp>
      <p:sp>
        <p:nvSpPr>
          <p:cNvPr id="9" name="Shape 7"/>
          <p:cNvSpPr/>
          <p:nvPr/>
        </p:nvSpPr>
        <p:spPr>
          <a:xfrm>
            <a:off x="630936" y="1828800"/>
            <a:ext cx="5385816" cy="3529584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0160">
            <a:solidFill>
              <a:srgbClr val="E6E3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23544" y="21214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50" b="1">
                <a:solidFill>
                  <a:srgbClr val="7463DF"/>
                </a:solidFill>
                <a:latin typeface="Aptos"/>
              </a:rPr>
              <a:t>PRIMARY REFERENCE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2688" y="2734056"/>
            <a:ext cx="82296" cy="82296"/>
          </a:xfrm>
          <a:prstGeom prst="ellipse">
            <a:avLst/>
          </a:prstGeom>
          <a:solidFill>
            <a:srgbClr val="FB6B5B"/>
          </a:solidFill>
          <a:ln w="12700">
            <a:solidFill>
              <a:srgbClr val="FB6B5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43000" y="2624328"/>
            <a:ext cx="4526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260">
                <a:solidFill>
                  <a:srgbClr val="232146"/>
                </a:solidFill>
                <a:latin typeface="Aptos"/>
              </a:rPr>
              <a:t>Peiqian Li &amp; Gao Han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932688" y="3319272"/>
            <a:ext cx="82296" cy="82296"/>
          </a:xfrm>
          <a:prstGeom prst="ellipse">
            <a:avLst/>
          </a:prstGeom>
          <a:solidFill>
            <a:srgbClr val="FB6B5B"/>
          </a:solidFill>
          <a:ln w="12700">
            <a:solidFill>
              <a:srgbClr val="FB6B5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43000" y="3209544"/>
            <a:ext cx="4526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260">
                <a:solidFill>
                  <a:srgbClr val="232146"/>
                </a:solidFill>
                <a:latin typeface="Aptos"/>
              </a:rPr>
              <a:t>“LendingClub Loan Default and Profitability Prediction”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932688" y="4005072"/>
            <a:ext cx="82296" cy="82296"/>
          </a:xfrm>
          <a:prstGeom prst="ellipse">
            <a:avLst/>
          </a:prstGeom>
          <a:solidFill>
            <a:srgbClr val="FB6B5B"/>
          </a:solidFill>
          <a:ln w="12700">
            <a:solidFill>
              <a:srgbClr val="FB6B5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43000" y="3895344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260">
                <a:solidFill>
                  <a:srgbClr val="232146"/>
                </a:solidFill>
                <a:latin typeface="Aptos"/>
              </a:rPr>
              <a:t>Stanford University — supplied reference for Problem No. 39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932688" y="4663440"/>
            <a:ext cx="82296" cy="82296"/>
          </a:xfrm>
          <a:prstGeom prst="ellipse">
            <a:avLst/>
          </a:prstGeom>
          <a:solidFill>
            <a:srgbClr val="FB6B5B"/>
          </a:solidFill>
          <a:ln w="12700">
            <a:solidFill>
              <a:srgbClr val="FB6B5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43000" y="45537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260">
                <a:solidFill>
                  <a:srgbClr val="232146"/>
                </a:solidFill>
                <a:latin typeface="Aptos"/>
              </a:rPr>
              <a:t/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227064" y="1828800"/>
            <a:ext cx="5330952" cy="3529584"/>
          </a:xfrm>
          <a:prstGeom prst="roundRect">
            <a:avLst>
              <a:gd name="adj" fmla="val 4145"/>
            </a:avLst>
          </a:prstGeom>
          <a:solidFill>
            <a:srgbClr val="EDE9FA"/>
          </a:solidFill>
          <a:ln w="10160">
            <a:solidFill>
              <a:srgbClr val="EDE9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28816" y="21214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50" b="1">
                <a:solidFill>
                  <a:srgbClr val="7463DF"/>
                </a:solidFill>
                <a:latin typeface="Aptos"/>
              </a:rPr>
              <a:t>DATASET &amp; PROJECT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28816" y="2724912"/>
            <a:ext cx="82296" cy="82296"/>
          </a:xfrm>
          <a:prstGeom prst="ellipse">
            <a:avLst/>
          </a:prstGeom>
          <a:solidFill>
            <a:srgbClr val="7463DF"/>
          </a:solidFill>
          <a:ln w="12700">
            <a:solidFill>
              <a:srgbClr val="7463D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39128" y="2615184"/>
            <a:ext cx="4507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260">
                <a:solidFill>
                  <a:srgbClr val="232146"/>
                </a:solidFill>
                <a:latin typeface="Aptos"/>
              </a:rPr>
              <a:t>LendingClub accepted loans, 2007–2018Q4 (Kaggle mirror)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528816" y="3364992"/>
            <a:ext cx="82296" cy="82296"/>
          </a:xfrm>
          <a:prstGeom prst="ellipse">
            <a:avLst/>
          </a:prstGeom>
          <a:solidFill>
            <a:srgbClr val="7463DF"/>
          </a:solidFill>
          <a:ln w="12700">
            <a:solidFill>
              <a:srgbClr val="7463D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39128" y="3255264"/>
            <a:ext cx="4507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260">
                <a:solidFill>
                  <a:srgbClr val="232146"/>
                </a:solidFill>
                <a:latin typeface="Aptos"/>
              </a:rPr>
              <a:t>Filtered cohort used here: finalized loans issued 2012–2015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6528816" y="4005072"/>
            <a:ext cx="82296" cy="82296"/>
          </a:xfrm>
          <a:prstGeom prst="ellipse">
            <a:avLst/>
          </a:prstGeom>
          <a:solidFill>
            <a:srgbClr val="7463DF"/>
          </a:solidFill>
          <a:ln w="12700">
            <a:solidFill>
              <a:srgbClr val="7463D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39128" y="3895344"/>
            <a:ext cx="4507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260">
                <a:solidFill>
                  <a:srgbClr val="232146"/>
                </a:solidFill>
                <a:latin typeface="Aptos"/>
                <a:hlinkClick r:id="rId3"/>
              </a:rPr>
              <a:t>Project repository: github.com/karan21v/LendingClub-P2P-Loan-Default-Prediction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6528816" y="4645152"/>
            <a:ext cx="82296" cy="82296"/>
          </a:xfrm>
          <a:prstGeom prst="ellipse">
            <a:avLst/>
          </a:prstGeom>
          <a:solidFill>
            <a:srgbClr val="7463DF"/>
          </a:solidFill>
          <a:ln w="12700">
            <a:solidFill>
              <a:srgbClr val="7463D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39128" y="4535424"/>
            <a:ext cx="4507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260">
                <a:solidFill>
                  <a:srgbClr val="232146"/>
                </a:solidFill>
                <a:latin typeface="Aptos"/>
              </a:rPr>
              <a:t/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640080" y="5559552"/>
            <a:ext cx="10899648" cy="512064"/>
          </a:xfrm>
          <a:prstGeom prst="roundRect">
            <a:avLst>
              <a:gd name="adj" fmla="val 23214"/>
            </a:avLst>
          </a:prstGeom>
          <a:solidFill>
            <a:srgbClr val="1B173F"/>
          </a:solidFill>
          <a:ln w="10160">
            <a:solidFill>
              <a:srgbClr val="1B173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05256" y="5696712"/>
            <a:ext cx="10351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50" b="1">
                <a:solidFill>
                  <a:srgbClr val="1B173F"/>
                </a:solidFill>
                <a:latin typeface="Aptos"/>
              </a:rPr>
              <a:t>All metrics and plots shown in this presentation are outputs from our completed notebook run.</a:t>
            </a:r>
            <a:endParaRPr lang="en-US" sz="1460" dirty="0"/>
          </a:p>
        </p:txBody>
      </p:sp>
      <p:sp>
        <p:nvSpPr>
          <p:cNvPr id="31" name="Text 29"/>
          <p:cNvSpPr/>
          <p:nvPr/>
        </p:nvSpPr>
        <p:spPr>
          <a:xfrm>
            <a:off x="667512" y="6245352"/>
            <a:ext cx="10716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850">
                <a:solidFill>
                  <a:srgbClr val="635D7D"/>
                </a:solidFill>
                <a:latin typeface="Aptos"/>
              </a:rPr>
              <a:t/>
            </a:r>
            <a:endParaRPr lang="en-US" sz="9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46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29184"/>
            <a:ext cx="7315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11 / NAR TARGET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101852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50" b="1">
                <a:solidFill>
                  <a:srgbClr val="1B173F"/>
                </a:solidFill>
                <a:latin typeface="Aptos"/>
              </a:rPr>
              <a:t>NAR is skewed with a long loss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80" b="0">
                <a:solidFill>
                  <a:srgbClr val="625F7A"/>
                </a:solidFill>
                <a:latin typeface="Aptos"/>
              </a:rPr>
              <a:t>Most loans cluster at modest positive returns; defaults create severe negative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528816"/>
            <a:ext cx="11009376" cy="9144"/>
          </a:xfrm>
          <a:prstGeom prst="rect">
            <a:avLst/>
          </a:prstGeom>
          <a:solidFill>
            <a:srgbClr val="DFD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6539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19" b="0">
                <a:solidFill>
                  <a:srgbClr val="625F7A"/>
                </a:solidFill>
                <a:latin typeface="Aptos"/>
              </a:rPr>
              <a:t>TEAM 14  /  UE24CS352A  /  PROBLEM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5136" y="6565392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7543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65960"/>
            <a:ext cx="7059168" cy="3931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66760" y="1755648"/>
            <a:ext cx="3227832" cy="1389888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277063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WHAT THE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322576"/>
            <a:ext cx="2770632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B173F"/>
                </a:solidFill>
                <a:latin typeface="Aptos"/>
              </a:rPr>
              <a:t>Large mass around modest positive NAR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3310128"/>
            <a:ext cx="322783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474720"/>
            <a:ext cx="277063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LOSS 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877056"/>
            <a:ext cx="2770632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B173F"/>
                </a:solidFill>
                <a:latin typeface="Aptos"/>
              </a:rPr>
              <a:t>Defaults push realized returns toward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4864608"/>
            <a:ext cx="3227832" cy="1389888"/>
          </a:xfrm>
          <a:prstGeom prst="roundRect">
            <a:avLst/>
          </a:prstGeom>
          <a:solidFill>
            <a:srgbClr val="FFF0EB"/>
          </a:solidFill>
          <a:ln w="12700"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5029200"/>
            <a:ext cx="277063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B6B5B"/>
                </a:solidFill>
                <a:latin typeface="Aptos"/>
              </a:rPr>
              <a:t>MODELLING IMPLICATION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31536"/>
            <a:ext cx="2770632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50" b="1">
                <a:solidFill>
                  <a:srgbClr val="1B173F"/>
                </a:solidFill>
                <a:latin typeface="Aptos"/>
              </a:rPr>
              <a:t>Exact return is noisy; ranking quality matters more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46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29184"/>
            <a:ext cx="731520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16 /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101852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50" b="1">
                <a:solidFill>
                  <a:srgbClr val="1B173F"/>
                </a:solidFill>
                <a:latin typeface="Aptos"/>
              </a:rPr>
              <a:t>Two model outputs answer two different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80" b="0">
                <a:solidFill>
                  <a:srgbClr val="625F7A"/>
                </a:solidFill>
                <a:latin typeface="Aptos"/>
              </a:rPr>
              <a:t>Risk and return are evaluated separately, then shown together in the final loan recommendation.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528816"/>
            <a:ext cx="11009376" cy="9144"/>
          </a:xfrm>
          <a:prstGeom prst="rect">
            <a:avLst/>
          </a:prstGeom>
          <a:solidFill>
            <a:srgbClr val="DFD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6539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19" b="0">
                <a:solidFill>
                  <a:srgbClr val="625F7A"/>
                </a:solidFill>
                <a:latin typeface="Aptos"/>
              </a:rPr>
              <a:t>TEAM 14  /  UE24CS352A  /  PROBLEM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5136" y="6565392"/>
            <a:ext cx="228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19" b="1">
                <a:solidFill>
                  <a:srgbClr val="7463DF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2743200" cy="2148840"/>
          </a:xfrm>
          <a:prstGeom prst="roundRect">
            <a:avLst/>
          </a:prstGeom>
          <a:solidFill>
            <a:srgbClr val="EDE9FA"/>
          </a:solidFill>
          <a:ln w="12700"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39112"/>
            <a:ext cx="2286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DEFAULT-RISK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41448"/>
            <a:ext cx="2286000" cy="1399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B173F"/>
                </a:solidFill>
                <a:latin typeface="Aptos"/>
              </a:rPr>
              <a:t>Classifier
Default probability
0.54 decision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625F7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874519"/>
            <a:ext cx="2743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39112"/>
            <a:ext cx="2286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7463DF"/>
                </a:solidFill>
                <a:latin typeface="Aptos"/>
              </a:rPr>
              <a:t>PROFITABILITY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41448"/>
            <a:ext cx="2286000" cy="1399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B173F"/>
                </a:solidFill>
                <a:latin typeface="Aptos"/>
              </a:rPr>
              <a:t>Regressor
Predicted NAR
7.16% investment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625F7A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874519"/>
            <a:ext cx="2971800" cy="2148840"/>
          </a:xfrm>
          <a:prstGeom prst="roundRect">
            <a:avLst/>
          </a:prstGeom>
          <a:solidFill>
            <a:srgbClr val="FFF0EB"/>
          </a:solidFill>
          <a:ln w="12700"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039112"/>
            <a:ext cx="25146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B6B5B"/>
                </a:solidFill>
                <a:latin typeface="Aptos"/>
              </a:rPr>
              <a:t>FINAL LOAN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441448"/>
            <a:ext cx="2514600" cy="1399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B173F"/>
                </a:solidFill>
                <a:latin typeface="Aptos"/>
              </a:rPr>
              <a:t>Repayment label
+ predicted return
+ INVEST / DO NOT INVEST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4617720"/>
            <a:ext cx="9738360" cy="822960"/>
          </a:xfrm>
          <a:prstGeom prst="roundRect">
            <a:avLst/>
          </a:prstGeom>
          <a:solidFill>
            <a:srgbClr val="EDE9FA"/>
          </a:solidFill>
          <a:ln>
            <a:solidFill>
              <a:srgbClr val="DF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91897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B173F"/>
                </a:solidFill>
                <a:latin typeface="Aptos"/>
              </a:rPr>
              <a:t>A loan can be Likely Fully Paid but still DO NOT INVEST if predicted NAR is below the return cutoff.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Loan Default and Profitability Prediction — Team 14</dc:title>
  <dc:subject>LendingClub Loan Default and Profitability Prediction</dc:subject>
  <dc:creator>Team 14</dc:creator>
  <cp:lastModifiedBy>Team 14</cp:lastModifiedBy>
  <cp:revision>1</cp:revision>
  <dcterms:created xsi:type="dcterms:W3CDTF">2026-10-12T06:07:59Z</dcterms:created>
  <dcterms:modified xsi:type="dcterms:W3CDTF">2026-10-12T06:07:59Z</dcterms:modified>
</cp:coreProperties>
</file>