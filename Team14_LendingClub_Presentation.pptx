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bc982f-cd06-1f5e-bd90-02af290330af}">
          <p14:sldIdLst>
            <p14:sldId id="256"/>
            <p14:sldId id="257"/>
            <p14:sldId id="258"/>
          </p14:sldIdLst>
        </p14:section>
        <p14:section name="Method" id="{cf0183c9-7fd4-892a-2a45-89342c7d6206}">
          <p14:sldIdLst>
            <p14:sldId id="259"/>
            <p14:sldId id="260"/>
            <p14:sldId id="261"/>
            <p14:sldId id="262"/>
          </p14:sldIdLst>
        </p14:section>
        <p14:section name="Results" id="{b31982b3-d313-6031-10fe-19eb6279fb30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45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4580"/>
                </a:solidFill>
                <a:latin typeface="+mn-lt"/>
              </a:rPr>
              <a:t>Loans issued per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rgbClr val="6C5F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7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53367</c:v>
                </c:pt>
                <c:pt idx="1">
                  <c:v>134804</c:v>
                </c:pt>
                <c:pt idx="2">
                  <c:v>223103</c:v>
                </c:pt>
                <c:pt idx="3">
                  <c:v>375546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7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7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repayment risk, two prediction tasks (classification and NAR regression), and the investment-strategy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accepted_2007_to_2018Q4 from Kaggle. 640,186 Fully Paid (81.36%) and 146,634 Default / Charged Off (18.64%). Current and Late loans are removed because their outcome is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emp_title (free text) is dropped. Numeric columns use median imputation; categorical columns use most-frequent imputation. Everything sits inside scikit-learn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architectures follow Li and Han. The default-probability threshold is tuned on the validation set, not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strategy mirrors Li and Han: rank loans by predicted NAR and invest above a threshold. A higher threshold funds fewer loans but should raise average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notebook, LendingClub.ipynb, runs top to bottom. Result tables are saved as CSV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yellow boxes from the notebook's final summary output after running with FAST_MODE =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limitations and what we would do next. Point to the GitHub repository for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480560" y="685800"/>
            <a:ext cx="4206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LendingClub Loan Default and Profitability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LendingClub Loan Default and Profitability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aran21v/LendingClub-P2P-Loan-Default-Prediction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aran21v/LendingClub-P2P-Loan-Default-Predi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480560" y="6858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LendingClub Loan Default and Profitability Prediction</a:t>
            </a:r>
            <a:endParaRPr lang="en-US" sz="2800" dirty="0"/>
          </a:p>
        </p:txBody>
      </p:sp>
      <p:sp>
        <p:nvSpPr>
          <p:cNvPr id="3" name="Return curve bar 1"/>
          <p:cNvSpPr/>
          <p:nvPr/>
        </p:nvSpPr>
        <p:spPr>
          <a:xfrm>
            <a:off x="548640" y="1737360"/>
            <a:ext cx="164592" cy="2286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Return curve bar 2"/>
          <p:cNvSpPr/>
          <p:nvPr/>
        </p:nvSpPr>
        <p:spPr>
          <a:xfrm>
            <a:off x="822960" y="2423160"/>
            <a:ext cx="164592" cy="16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Return curve bar 3"/>
          <p:cNvSpPr/>
          <p:nvPr/>
        </p:nvSpPr>
        <p:spPr>
          <a:xfrm>
            <a:off x="1097280" y="2743200"/>
            <a:ext cx="164592" cy="12801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Return curve bar 4"/>
          <p:cNvSpPr/>
          <p:nvPr/>
        </p:nvSpPr>
        <p:spPr>
          <a:xfrm>
            <a:off x="1371600" y="2926080"/>
            <a:ext cx="164592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Return curve bar 5"/>
          <p:cNvSpPr/>
          <p:nvPr/>
        </p:nvSpPr>
        <p:spPr>
          <a:xfrm>
            <a:off x="1645920" y="3063240"/>
            <a:ext cx="164592" cy="9601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Return curve bar 6"/>
          <p:cNvSpPr/>
          <p:nvPr/>
        </p:nvSpPr>
        <p:spPr>
          <a:xfrm>
            <a:off x="1920240" y="3154680"/>
            <a:ext cx="164592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Return curve bar 7"/>
          <p:cNvSpPr/>
          <p:nvPr/>
        </p:nvSpPr>
        <p:spPr>
          <a:xfrm>
            <a:off x="2194560" y="3227832"/>
            <a:ext cx="164592" cy="7955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Return curve bar 8"/>
          <p:cNvSpPr/>
          <p:nvPr/>
        </p:nvSpPr>
        <p:spPr>
          <a:xfrm>
            <a:off x="2468880" y="3291840"/>
            <a:ext cx="164592" cy="731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Return curve bar 9"/>
          <p:cNvSpPr/>
          <p:nvPr/>
        </p:nvSpPr>
        <p:spPr>
          <a:xfrm>
            <a:off x="2743200" y="3346704"/>
            <a:ext cx="164592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Return curve bar 10"/>
          <p:cNvSpPr/>
          <p:nvPr/>
        </p:nvSpPr>
        <p:spPr>
          <a:xfrm>
            <a:off x="3017520" y="3419856"/>
            <a:ext cx="164592" cy="6035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Return curve bar 11"/>
          <p:cNvSpPr/>
          <p:nvPr/>
        </p:nvSpPr>
        <p:spPr>
          <a:xfrm>
            <a:off x="3291840" y="3520440"/>
            <a:ext cx="164592" cy="502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Return curve bar 12"/>
          <p:cNvSpPr/>
          <p:nvPr/>
        </p:nvSpPr>
        <p:spPr>
          <a:xfrm>
            <a:off x="3566160" y="3657600"/>
            <a:ext cx="16459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Return curve bar 13"/>
          <p:cNvSpPr/>
          <p:nvPr/>
        </p:nvSpPr>
        <p:spPr>
          <a:xfrm>
            <a:off x="3840480" y="3822192"/>
            <a:ext cx="164592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Course line"/>
          <p:cNvSpPr txBox="1"/>
          <p:nvPr/>
        </p:nvSpPr>
        <p:spPr>
          <a:xfrm>
            <a:off x="448056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Team 14  |  UE24CS352A – Machine Learning  |  Problem No. 39</a:t>
            </a:r>
            <a:endParaRPr lang="en-US" sz="1200" dirty="0"/>
          </a:p>
        </p:txBody>
      </p:sp>
      <p:sp>
        <p:nvSpPr>
          <p:cNvPr id="17" name="Team members"/>
          <p:cNvSpPr txBox="1"/>
          <p:nvPr/>
        </p:nvSpPr>
        <p:spPr>
          <a:xfrm>
            <a:off x="4480560" y="2880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Karan Varshney  (PES2UG24CS903)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 Sai Karthik  (PES2UG24CS141)</a:t>
            </a:r>
            <a:endParaRPr lang="en-US" sz="1400" dirty="0"/>
          </a:p>
        </p:txBody>
      </p:sp>
      <p:sp>
        <p:nvSpPr>
          <p:cNvPr id="18" name="GitHub link"/>
          <p:cNvSpPr txBox="1"/>
          <p:nvPr/>
        </p:nvSpPr>
        <p:spPr>
          <a:xfrm>
            <a:off x="448056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github.com/karan21v/LendingClub-P2P-Loan-Default-Prediction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Problem: will this loan be repaid?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Problem marker 1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Problem marker 1 number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roblem heading 1"/>
          <p:cNvSpPr txBox="1"/>
          <p:nvPr/>
        </p:nvSpPr>
        <p:spPr>
          <a:xfrm>
            <a:off x="1371600" y="12527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Investors must judge risk before funding</a:t>
            </a:r>
            <a:endParaRPr lang="en-US" sz="16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1371600" y="1554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P2P lenders fund many small loans, so each borrower’s chance of repaying has to be assessed quickly.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Problem marker 2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blem marker 2 number"/>
          <p:cNvSpPr txBox="1"/>
          <p:nvPr/>
        </p:nvSpPr>
        <p:spPr>
          <a:xfrm>
            <a:off x="6858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roblem heading 2"/>
          <p:cNvSpPr txBox="1"/>
          <p:nvPr/>
        </p:nvSpPr>
        <p:spPr>
          <a:xfrm>
            <a:off x="1371600" y="23957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connected prediction tasks</a:t>
            </a:r>
            <a:endParaRPr lang="en-US" sz="16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1371600" y="2697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Classify a finalized loan as Fully Paid or Default / Charged Off, then predict its Net Annualized Return (NAR).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4" name="Problem marker 3"/>
          <p:cNvSpPr/>
          <p:nvPr/>
        </p:nvSpPr>
        <p:spPr>
          <a:xfrm>
            <a:off x="68580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roblem marker 3 number"/>
          <p:cNvSpPr txBox="1"/>
          <p:nvPr/>
        </p:nvSpPr>
        <p:spPr>
          <a:xfrm>
            <a:off x="6858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roblem heading 3"/>
          <p:cNvSpPr txBox="1"/>
          <p:nvPr/>
        </p:nvSpPr>
        <p:spPr>
          <a:xfrm>
            <a:off x="1371600" y="35387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goal</a:t>
            </a:r>
            <a:endParaRPr lang="en-US" sz="16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137160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Invest only in loans whose predicted return clears a threshold, following the reference paper by Li and Han.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Dataset: LendingClub loans, 2012–2015</a:t>
            </a:r>
            <a:endParaRPr lang="en-US" sz="3000" dirty="0"/>
          </a:p>
        </p:txBody>
      </p:sp>
      <p:sp>
        <p:nvSpPr>
          <p:cNvPr id="3" name="Dataset step 1"/>
          <p:cNvSpPr/>
          <p:nvPr/>
        </p:nvSpPr>
        <p:spPr>
          <a:xfrm>
            <a:off x="457200" y="1097280"/>
            <a:ext cx="1783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Dataset step heading 1"/>
          <p:cNvSpPr txBox="1"/>
          <p:nvPr/>
        </p:nvSpPr>
        <p:spPr>
          <a:xfrm>
            <a:off x="594360" y="1188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Kaggle file</a:t>
            </a:r>
            <a:endParaRPr lang="en-US" sz="1400" dirty="0"/>
          </a:p>
        </p:txBody>
      </p:sp>
      <p:sp>
        <p:nvSpPr>
          <p:cNvPr id="5" name="Dataset step text 1"/>
          <p:cNvSpPr txBox="1"/>
          <p:nvPr/>
        </p:nvSpPr>
        <p:spPr>
          <a:xfrm>
            <a:off x="594360" y="14813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LendingClub accepted loans, 2007–2018</a:t>
            </a:r>
            <a:endParaRPr lang="en-US" sz="1200" dirty="0"/>
          </a:p>
        </p:txBody>
      </p:sp>
      <p:sp>
        <p:nvSpPr>
          <p:cNvPr id="6" name="Flow arrow"/>
          <p:cNvSpPr txBox="1"/>
          <p:nvPr/>
        </p:nvSpPr>
        <p:spPr>
          <a:xfrm>
            <a:off x="2240280" y="10972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Dataset step 2"/>
          <p:cNvSpPr/>
          <p:nvPr/>
        </p:nvSpPr>
        <p:spPr>
          <a:xfrm>
            <a:off x="2606040" y="1097280"/>
            <a:ext cx="1783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8" name="Dataset step heading 2"/>
          <p:cNvSpPr txBox="1"/>
          <p:nvPr/>
        </p:nvSpPr>
        <p:spPr>
          <a:xfrm>
            <a:off x="2743200" y="1188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</a:t>
            </a:r>
            <a:endParaRPr lang="en-US" sz="1400" dirty="0"/>
          </a:p>
        </p:txBody>
      </p:sp>
      <p:sp>
        <p:nvSpPr>
          <p:cNvPr id="9" name="Dataset step text 2"/>
          <p:cNvSpPr txBox="1"/>
          <p:nvPr/>
        </p:nvSpPr>
        <p:spPr>
          <a:xfrm>
            <a:off x="2743200" y="14813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Issued 2012–2015, final status only</a:t>
            </a:r>
            <a:endParaRPr lang="en-US" sz="1200" dirty="0"/>
          </a:p>
        </p:txBody>
      </p:sp>
      <p:sp>
        <p:nvSpPr>
          <p:cNvPr id="10" name="Flow arrow"/>
          <p:cNvSpPr txBox="1"/>
          <p:nvPr/>
        </p:nvSpPr>
        <p:spPr>
          <a:xfrm>
            <a:off x="4389120" y="10972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Dataset step 3"/>
          <p:cNvSpPr/>
          <p:nvPr/>
        </p:nvSpPr>
        <p:spPr>
          <a:xfrm>
            <a:off x="4754880" y="1097280"/>
            <a:ext cx="1783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2" name="Dataset step heading 3"/>
          <p:cNvSpPr txBox="1"/>
          <p:nvPr/>
        </p:nvSpPr>
        <p:spPr>
          <a:xfrm>
            <a:off x="4892040" y="1188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786,820 loans</a:t>
            </a:r>
            <a:endParaRPr lang="en-US" sz="1400" dirty="0"/>
          </a:p>
        </p:txBody>
      </p:sp>
      <p:sp>
        <p:nvSpPr>
          <p:cNvPr id="13" name="Dataset step text 3"/>
          <p:cNvSpPr txBox="1"/>
          <p:nvPr/>
        </p:nvSpPr>
        <p:spPr>
          <a:xfrm>
            <a:off x="4892040" y="14813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Fully Paid or Default / Charged Off</a:t>
            </a:r>
            <a:endParaRPr lang="en-US" sz="1200" dirty="0"/>
          </a:p>
        </p:txBody>
      </p:sp>
      <p:sp>
        <p:nvSpPr>
          <p:cNvPr id="14" name="Flow arrow"/>
          <p:cNvSpPr txBox="1"/>
          <p:nvPr/>
        </p:nvSpPr>
        <p:spPr>
          <a:xfrm>
            <a:off x="6537960" y="10972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Dataset step 4"/>
          <p:cNvSpPr/>
          <p:nvPr/>
        </p:nvSpPr>
        <p:spPr>
          <a:xfrm>
            <a:off x="6903720" y="1097280"/>
            <a:ext cx="1783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6" name="Dataset step heading 4"/>
          <p:cNvSpPr txBox="1"/>
          <p:nvPr/>
        </p:nvSpPr>
        <p:spPr>
          <a:xfrm>
            <a:off x="7040880" y="1188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29 features</a:t>
            </a:r>
            <a:endParaRPr lang="en-US" sz="1400" dirty="0"/>
          </a:p>
        </p:txBody>
      </p:sp>
      <p:sp>
        <p:nvSpPr>
          <p:cNvPr id="17" name="Dataset step text 4"/>
          <p:cNvSpPr txBox="1"/>
          <p:nvPr/>
        </p:nvSpPr>
        <p:spPr>
          <a:xfrm>
            <a:off x="7040880" y="14813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21 numeric, 8 categorical</a:t>
            </a:r>
            <a:endParaRPr lang="en-US" sz="1200" dirty="0"/>
          </a:p>
        </p:txBody>
      </p:sp>
      <p:sp>
        <p:nvSpPr>
          <p:cNvPr id="18" name="Stat value 1"/>
          <p:cNvSpPr txBox="1"/>
          <p:nvPr/>
        </p:nvSpPr>
        <p:spPr>
          <a:xfrm>
            <a:off x="45720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81.4%</a:t>
            </a:r>
            <a:endParaRPr lang="en-US" sz="2600" dirty="0"/>
          </a:p>
        </p:txBody>
      </p:sp>
      <p:sp>
        <p:nvSpPr>
          <p:cNvPr id="19" name="Stat label 1"/>
          <p:cNvSpPr txBox="1"/>
          <p:nvPr/>
        </p:nvSpPr>
        <p:spPr>
          <a:xfrm>
            <a:off x="269748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Fully Paid (640,186 loans)</a:t>
            </a:r>
            <a:endParaRPr lang="en-US" sz="1400" dirty="0"/>
          </a:p>
        </p:txBody>
      </p:sp>
      <p:sp>
        <p:nvSpPr>
          <p:cNvPr id="20" name="Stat value 2"/>
          <p:cNvSpPr txBox="1"/>
          <p:nvPr/>
        </p:nvSpPr>
        <p:spPr>
          <a:xfrm>
            <a:off x="45720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18.6%</a:t>
            </a:r>
            <a:endParaRPr lang="en-US" sz="2600" dirty="0"/>
          </a:p>
        </p:txBody>
      </p:sp>
      <p:sp>
        <p:nvSpPr>
          <p:cNvPr id="21" name="Stat label 2"/>
          <p:cNvSpPr txBox="1"/>
          <p:nvPr/>
        </p:nvSpPr>
        <p:spPr>
          <a:xfrm>
            <a:off x="2697480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Default / Charged Off (146,634)</a:t>
            </a:r>
            <a:endParaRPr lang="en-US" sz="1400" dirty="0"/>
          </a:p>
        </p:txBody>
      </p:sp>
      <p:sp>
        <p:nvSpPr>
          <p:cNvPr id="22" name="Stat value 3"/>
          <p:cNvSpPr txBox="1"/>
          <p:nvPr/>
        </p:nvSpPr>
        <p:spPr>
          <a:xfrm>
            <a:off x="45720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70 / 15 / 15</a:t>
            </a:r>
            <a:endParaRPr lang="en-US" sz="2600" dirty="0"/>
          </a:p>
        </p:txBody>
      </p:sp>
      <p:sp>
        <p:nvSpPr>
          <p:cNvPr id="23" name="Stat label 3"/>
          <p:cNvSpPr txBox="1"/>
          <p:nvPr/>
        </p:nvSpPr>
        <p:spPr>
          <a:xfrm>
            <a:off x="269748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train / val / test split</a:t>
            </a:r>
            <a:endParaRPr lang="en-US" sz="1400" dirty="0"/>
          </a:p>
        </p:txBody>
      </p:sp>
      <p:graphicFrame>
        <p:nvGraphicFramePr>
          <p:cNvPr id="24" name="Loans per year chart" descr=""/>
          <p:cNvGraphicFramePr/>
          <p:nvPr/>
        </p:nvGraphicFramePr>
        <p:xfrm>
          <a:off x="4663440" y="228600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Features and preprocessing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4" name="Feature marker 1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Feature marker 1 number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Feature heading 1"/>
          <p:cNvSpPr txBox="1"/>
          <p:nvPr/>
        </p:nvSpPr>
        <p:spPr>
          <a:xfrm>
            <a:off x="1143000" y="1325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Leakage prevention</a:t>
            </a:r>
            <a:endParaRPr lang="en-US" sz="1600" dirty="0"/>
          </a:p>
        </p:txBody>
      </p:sp>
      <p:sp>
        <p:nvSpPr>
          <p:cNvPr id="7" name="Feature text 1"/>
          <p:cNvSpPr txBox="1"/>
          <p:nvPr/>
        </p:nvSpPr>
        <p:spPr>
          <a:xfrm>
            <a:off x="68580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total_pymnt and last_pymnt_d only build the NAR target. They are never model inputs.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Feature marker 2"/>
          <p:cNvSpPr/>
          <p:nvPr/>
        </p:nvSpPr>
        <p:spPr>
          <a:xfrm>
            <a:off x="484632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Feature marker 2 number"/>
          <p:cNvSpPr txBox="1"/>
          <p:nvPr/>
        </p:nvSpPr>
        <p:spPr>
          <a:xfrm>
            <a:off x="48463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Feature heading 2"/>
          <p:cNvSpPr txBox="1"/>
          <p:nvPr/>
        </p:nvSpPr>
        <p:spPr>
          <a:xfrm>
            <a:off x="5349240" y="1325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12" name="Feature text 2"/>
          <p:cNvSpPr txBox="1"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Term in months, employment length in years, FICO midpoint, credit-history length.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Feature mark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Feature marker 3 number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Feature heading 3"/>
          <p:cNvSpPr txBox="1"/>
          <p:nvPr/>
        </p:nvSpPr>
        <p:spPr>
          <a:xfrm>
            <a:off x="114300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Pipeline preprocessing</a:t>
            </a:r>
            <a:endParaRPr lang="en-US" sz="1600" dirty="0"/>
          </a:p>
        </p:txBody>
      </p:sp>
      <p:sp>
        <p:nvSpPr>
          <p:cNvPr id="17" name="Feature text 3"/>
          <p:cNvSpPr txBox="1"/>
          <p:nvPr/>
        </p:nvSpPr>
        <p:spPr>
          <a:xfrm>
            <a:off x="68580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Imputation, standardization and one-hot encoding, fitted on training data only.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Feature marker 4"/>
          <p:cNvSpPr/>
          <p:nvPr/>
        </p:nvSpPr>
        <p:spPr>
          <a:xfrm>
            <a:off x="484632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Feature marker 4 number"/>
          <p:cNvSpPr txBox="1"/>
          <p:nvPr/>
        </p:nvSpPr>
        <p:spPr>
          <a:xfrm>
            <a:off x="48463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Feature heading 4"/>
          <p:cNvSpPr txBox="1"/>
          <p:nvPr/>
        </p:nvSpPr>
        <p:spPr>
          <a:xfrm>
            <a:off x="534924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Stratified 70/15/15 split</a:t>
            </a:r>
            <a:endParaRPr lang="en-US" sz="1600" dirty="0"/>
          </a:p>
        </p:txBody>
      </p:sp>
      <p:sp>
        <p:nvSpPr>
          <p:cNvPr id="22" name="Feature text 4"/>
          <p:cNvSpPr txBox="1"/>
          <p:nvPr/>
        </p:nvSpPr>
        <p:spPr>
          <a:xfrm>
            <a:off x="489204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Validation picks models and thresholds; the test set is used once at the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Approach: classification models</a:t>
            </a:r>
            <a:endParaRPr lang="en-US" sz="3000" dirty="0"/>
          </a:p>
        </p:txBody>
      </p:sp>
      <p:sp>
        <p:nvSpPr>
          <p:cNvPr id="3" name="Model card 1"/>
          <p:cNvSpPr/>
          <p:nvPr/>
        </p:nvSpPr>
        <p:spPr>
          <a:xfrm>
            <a:off x="45720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Model marker 1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del marker 1 number"/>
          <p:cNvSpPr txBox="1"/>
          <p:nvPr/>
        </p:nvSpPr>
        <p:spPr>
          <a:xfrm>
            <a:off x="6858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Model heading 1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7" name="Model text 1"/>
          <p:cNvSpPr txBox="1"/>
          <p:nvPr/>
        </p:nvSpPr>
        <p:spPr>
          <a:xfrm>
            <a:off x="6858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Linear model with balanced class weights to offset the 81/19 imbalance.</a:t>
            </a:r>
            <a:endParaRPr lang="en-US" sz="1400" dirty="0"/>
          </a:p>
        </p:txBody>
      </p:sp>
      <p:sp>
        <p:nvSpPr>
          <p:cNvPr id="8" name="Model card 2"/>
          <p:cNvSpPr/>
          <p:nvPr/>
        </p:nvSpPr>
        <p:spPr>
          <a:xfrm>
            <a:off x="324612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Model marker 2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odel marker 2 number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Model heading 2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MLP neural network</a:t>
            </a:r>
            <a:endParaRPr lang="en-US" sz="1600" dirty="0"/>
          </a:p>
        </p:txBody>
      </p:sp>
      <p:sp>
        <p:nvSpPr>
          <p:cNvPr id="12" name="Model text 2"/>
          <p:cNvSpPr txBox="1"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Hidden layers 10-10-5-3 with sigmoid activations, as in the reference paper.</a:t>
            </a:r>
            <a:endParaRPr lang="en-US" sz="1400" dirty="0"/>
          </a:p>
        </p:txBody>
      </p:sp>
      <p:sp>
        <p:nvSpPr>
          <p:cNvPr id="13" name="Model card 3"/>
          <p:cNvSpPr/>
          <p:nvPr/>
        </p:nvSpPr>
        <p:spPr>
          <a:xfrm>
            <a:off x="603504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Model marker 3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Model marker 3 number"/>
          <p:cNvSpPr txBox="1"/>
          <p:nvPr/>
        </p:nvSpPr>
        <p:spPr>
          <a:xfrm>
            <a:off x="6263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Model heading 3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7" name="Model text 3"/>
          <p:cNvSpPr txBox="1"/>
          <p:nvPr/>
        </p:nvSpPr>
        <p:spPr>
          <a:xfrm>
            <a:off x="626364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Tree ensemble using at most 50 features per split and balanced subsample weights.</a:t>
            </a:r>
            <a:endParaRPr lang="en-US" sz="1400" dirty="0"/>
          </a:p>
        </p:txBody>
      </p:sp>
      <p:sp>
        <p:nvSpPr>
          <p:cNvPr id="18" name="Metrics banner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</p:sp>
      <p:sp>
        <p:nvSpPr>
          <p:cNvPr id="19" name="Metrics text"/>
          <p:cNvSpPr txBox="1"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majority-class dummy baseline is scored too. With 81% of loans paid, we report default precision, recall, F1, ROC-AUC and PR-AUC, and pick the model by validation default-F1.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Regression and loan selection</a:t>
            </a:r>
            <a:endParaRPr lang="en-US" sz="3000" dirty="0"/>
          </a:p>
        </p:txBody>
      </p:sp>
      <p:sp>
        <p:nvSpPr>
          <p:cNvPr id="3" name="Formula banner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4" name="NAR formula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NAR = (total_pymnt / loan_amnt)</a:t>
            </a:r>
            <a:pPr indent="0" marL="0">
              <a:buNone/>
            </a:pPr>
            <a:r>
              <a:rPr lang="en-US" sz="2200" b="1" baseline="30000" dirty="0">
                <a:solidFill>
                  <a:schemeClr val="bg1"/>
                </a:solidFill>
              </a:rPr>
              <a:t>365/days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 − 1</a:t>
            </a:r>
            <a:endParaRPr lang="en-US" sz="2200" dirty="0"/>
          </a:p>
        </p:txBody>
      </p:sp>
      <p:sp>
        <p:nvSpPr>
          <p:cNvPr id="5" name="NAR caption"/>
          <p:cNvSpPr txBox="1"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Annualized return per loan; the outer 0.1% of each tail is trimmed.</a:t>
            </a:r>
            <a:endParaRPr lang="en-US" sz="1200" dirty="0"/>
          </a:p>
        </p:txBody>
      </p:sp>
      <p:sp>
        <p:nvSpPr>
          <p:cNvPr id="6" name="Strategy step 1"/>
          <p:cNvSpPr/>
          <p:nvPr/>
        </p:nvSpPr>
        <p:spPr>
          <a:xfrm>
            <a:off x="45720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Strategy heading 1"/>
          <p:cNvSpPr txBox="1"/>
          <p:nvPr/>
        </p:nvSpPr>
        <p:spPr>
          <a:xfrm>
            <a:off x="59436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 models</a:t>
            </a:r>
            <a:endParaRPr lang="en-US" sz="1400" dirty="0"/>
          </a:p>
        </p:txBody>
      </p:sp>
      <p:sp>
        <p:nvSpPr>
          <p:cNvPr id="8" name="Strategy text 1"/>
          <p:cNvSpPr txBox="1"/>
          <p:nvPr/>
        </p:nvSpPr>
        <p:spPr>
          <a:xfrm>
            <a:off x="594360" y="27889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Linear, Ridge, MLP with 4 hidden layers, Random Forest (depth 4, 8, 10)</a:t>
            </a:r>
            <a:endParaRPr lang="en-US" sz="1200" dirty="0"/>
          </a:p>
        </p:txBody>
      </p:sp>
      <p:sp>
        <p:nvSpPr>
          <p:cNvPr id="9" name="Flow arrow"/>
          <p:cNvSpPr txBox="1"/>
          <p:nvPr/>
        </p:nvSpPr>
        <p:spPr>
          <a:xfrm>
            <a:off x="2240280" y="2286000"/>
            <a:ext cx="365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trategy step 2"/>
          <p:cNvSpPr/>
          <p:nvPr/>
        </p:nvSpPr>
        <p:spPr>
          <a:xfrm>
            <a:off x="260604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Strategy heading 2"/>
          <p:cNvSpPr txBox="1"/>
          <p:nvPr/>
        </p:nvSpPr>
        <p:spPr>
          <a:xfrm>
            <a:off x="274320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 loans</a:t>
            </a:r>
            <a:endParaRPr lang="en-US" sz="1400" dirty="0"/>
          </a:p>
        </p:txBody>
      </p:sp>
      <p:sp>
        <p:nvSpPr>
          <p:cNvPr id="12" name="Strategy text 2"/>
          <p:cNvSpPr txBox="1"/>
          <p:nvPr/>
        </p:nvSpPr>
        <p:spPr>
          <a:xfrm>
            <a:off x="2743200" y="27889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Sort by predicted NAR, highest first</a:t>
            </a:r>
            <a:endParaRPr lang="en-US" sz="1200" dirty="0"/>
          </a:p>
        </p:txBody>
      </p:sp>
      <p:sp>
        <p:nvSpPr>
          <p:cNvPr id="13" name="Flow arrow"/>
          <p:cNvSpPr txBox="1"/>
          <p:nvPr/>
        </p:nvSpPr>
        <p:spPr>
          <a:xfrm>
            <a:off x="4389120" y="2286000"/>
            <a:ext cx="365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trategy step 3"/>
          <p:cNvSpPr/>
          <p:nvPr/>
        </p:nvSpPr>
        <p:spPr>
          <a:xfrm>
            <a:off x="475488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Strategy heading 3"/>
          <p:cNvSpPr txBox="1"/>
          <p:nvPr/>
        </p:nvSpPr>
        <p:spPr>
          <a:xfrm>
            <a:off x="489204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a threshold</a:t>
            </a:r>
            <a:endParaRPr lang="en-US" sz="1400" dirty="0"/>
          </a:p>
        </p:txBody>
      </p:sp>
      <p:sp>
        <p:nvSpPr>
          <p:cNvPr id="16" name="Strategy text 3"/>
          <p:cNvSpPr txBox="1"/>
          <p:nvPr/>
        </p:nvSpPr>
        <p:spPr>
          <a:xfrm>
            <a:off x="4892040" y="27889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Chosen on validation data</a:t>
            </a:r>
            <a:endParaRPr lang="en-US" sz="1200" dirty="0"/>
          </a:p>
        </p:txBody>
      </p:sp>
      <p:sp>
        <p:nvSpPr>
          <p:cNvPr id="17" name="Flow arrow"/>
          <p:cNvSpPr txBox="1"/>
          <p:nvPr/>
        </p:nvSpPr>
        <p:spPr>
          <a:xfrm>
            <a:off x="6537960" y="2286000"/>
            <a:ext cx="365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trategy step 4"/>
          <p:cNvSpPr/>
          <p:nvPr/>
        </p:nvSpPr>
        <p:spPr>
          <a:xfrm>
            <a:off x="690372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accent2"/>
          </a:solidFill>
          <a:ln/>
        </p:spPr>
      </p:sp>
      <p:sp>
        <p:nvSpPr>
          <p:cNvPr id="19" name="Strategy heading 4"/>
          <p:cNvSpPr txBox="1"/>
          <p:nvPr/>
        </p:nvSpPr>
        <p:spPr>
          <a:xfrm>
            <a:off x="704088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Invest</a:t>
            </a:r>
            <a:endParaRPr lang="en-US" sz="1400" dirty="0"/>
          </a:p>
        </p:txBody>
      </p:sp>
      <p:sp>
        <p:nvSpPr>
          <p:cNvPr id="20" name="Strategy text 4"/>
          <p:cNvSpPr txBox="1"/>
          <p:nvPr/>
        </p:nvSpPr>
        <p:spPr>
          <a:xfrm>
            <a:off x="7040880" y="27889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Fund loans above it; evaluate once on the test set</a:t>
            </a:r>
            <a:endParaRPr lang="en-US" sz="1200" dirty="0"/>
          </a:p>
        </p:txBody>
      </p:sp>
      <p:sp>
        <p:nvSpPr>
          <p:cNvPr id="21" name="Selection note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Regressors are compared on validation R².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overview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0972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Step marker 1"/>
          <p:cNvSpPr/>
          <p:nvPr/>
        </p:nvSpPr>
        <p:spPr>
          <a:xfrm>
            <a:off x="594360" y="1234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marker 1 number"/>
          <p:cNvSpPr txBox="1"/>
          <p:nvPr/>
        </p:nvSpPr>
        <p:spPr>
          <a:xfrm>
            <a:off x="594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ing 1"/>
          <p:cNvSpPr txBox="1"/>
          <p:nvPr/>
        </p:nvSpPr>
        <p:spPr>
          <a:xfrm>
            <a:off x="100584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data</a:t>
            </a:r>
            <a:endParaRPr lang="en-US" sz="1400" dirty="0"/>
          </a:p>
        </p:txBody>
      </p:sp>
      <p:sp>
        <p:nvSpPr>
          <p:cNvPr id="7" name="Step text 1"/>
          <p:cNvSpPr txBox="1"/>
          <p:nvPr/>
        </p:nvSpPr>
        <p:spPr>
          <a:xfrm>
            <a:off x="594360" y="1737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Chunked loading of 33 columns from the Kaggle file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2575590" y="10972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Step marker 2"/>
          <p:cNvSpPr/>
          <p:nvPr/>
        </p:nvSpPr>
        <p:spPr>
          <a:xfrm>
            <a:off x="2712750" y="1234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marker 2 number"/>
          <p:cNvSpPr txBox="1"/>
          <p:nvPr/>
        </p:nvSpPr>
        <p:spPr>
          <a:xfrm>
            <a:off x="271275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heading 2"/>
          <p:cNvSpPr txBox="1"/>
          <p:nvPr/>
        </p:nvSpPr>
        <p:spPr>
          <a:xfrm>
            <a:off x="312423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 and label</a:t>
            </a:r>
            <a:endParaRPr lang="en-US" sz="1400" dirty="0"/>
          </a:p>
        </p:txBody>
      </p:sp>
      <p:sp>
        <p:nvSpPr>
          <p:cNvPr id="12" name="Step text 2"/>
          <p:cNvSpPr txBox="1"/>
          <p:nvPr/>
        </p:nvSpPr>
        <p:spPr>
          <a:xfrm>
            <a:off x="2712750" y="1737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2012–2015, final status only; build the NAR target</a:t>
            </a:r>
            <a:endParaRPr lang="en-US" sz="1200" dirty="0"/>
          </a:p>
        </p:txBody>
      </p:sp>
      <p:sp>
        <p:nvSpPr>
          <p:cNvPr id="13" name="Step card 3"/>
          <p:cNvSpPr/>
          <p:nvPr/>
        </p:nvSpPr>
        <p:spPr>
          <a:xfrm>
            <a:off x="4693981" y="10972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Step marker 3"/>
          <p:cNvSpPr/>
          <p:nvPr/>
        </p:nvSpPr>
        <p:spPr>
          <a:xfrm>
            <a:off x="4831141" y="1234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marker 3 number"/>
          <p:cNvSpPr txBox="1"/>
          <p:nvPr/>
        </p:nvSpPr>
        <p:spPr>
          <a:xfrm>
            <a:off x="4831141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tep heading 3"/>
          <p:cNvSpPr txBox="1"/>
          <p:nvPr/>
        </p:nvSpPr>
        <p:spPr>
          <a:xfrm>
            <a:off x="5242621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Explore</a:t>
            </a:r>
            <a:endParaRPr lang="en-US" sz="14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31141" y="1737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Class balance, default rate by grade and term, FICO and DTI plots</a:t>
            </a:r>
            <a:endParaRPr lang="en-US" sz="1200" dirty="0"/>
          </a:p>
        </p:txBody>
      </p:sp>
      <p:sp>
        <p:nvSpPr>
          <p:cNvPr id="18" name="Step card 4"/>
          <p:cNvSpPr/>
          <p:nvPr/>
        </p:nvSpPr>
        <p:spPr>
          <a:xfrm>
            <a:off x="6812371" y="10972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Step marker 4"/>
          <p:cNvSpPr/>
          <p:nvPr/>
        </p:nvSpPr>
        <p:spPr>
          <a:xfrm>
            <a:off x="6949531" y="1234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marker 4 number"/>
          <p:cNvSpPr txBox="1"/>
          <p:nvPr/>
        </p:nvSpPr>
        <p:spPr>
          <a:xfrm>
            <a:off x="6949531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tep heading 4"/>
          <p:cNvSpPr txBox="1"/>
          <p:nvPr/>
        </p:nvSpPr>
        <p:spPr>
          <a:xfrm>
            <a:off x="7361011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Features and split</a:t>
            </a:r>
            <a:endParaRPr lang="en-US" sz="1400" dirty="0"/>
          </a:p>
        </p:txBody>
      </p:sp>
      <p:sp>
        <p:nvSpPr>
          <p:cNvPr id="22" name="Step text 4"/>
          <p:cNvSpPr txBox="1"/>
          <p:nvPr/>
        </p:nvSpPr>
        <p:spPr>
          <a:xfrm>
            <a:off x="6949531" y="1737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Engineered features, pipelines, 70/15/15 split</a:t>
            </a:r>
            <a:endParaRPr lang="en-US" sz="1200" dirty="0"/>
          </a:p>
        </p:txBody>
      </p:sp>
      <p:sp>
        <p:nvSpPr>
          <p:cNvPr id="23" name="Step card 5"/>
          <p:cNvSpPr/>
          <p:nvPr/>
        </p:nvSpPr>
        <p:spPr>
          <a:xfrm>
            <a:off x="457200" y="26974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4" name="Step marker 5"/>
          <p:cNvSpPr/>
          <p:nvPr/>
        </p:nvSpPr>
        <p:spPr>
          <a:xfrm>
            <a:off x="594360" y="2834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Step marker 5 number"/>
          <p:cNvSpPr txBox="1"/>
          <p:nvPr/>
        </p:nvSpPr>
        <p:spPr>
          <a:xfrm>
            <a:off x="5943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tep heading 5"/>
          <p:cNvSpPr txBox="1"/>
          <p:nvPr/>
        </p:nvSpPr>
        <p:spPr>
          <a:xfrm>
            <a:off x="1005840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 classifiers</a:t>
            </a:r>
            <a:endParaRPr lang="en-US" sz="1400" dirty="0"/>
          </a:p>
        </p:txBody>
      </p:sp>
      <p:sp>
        <p:nvSpPr>
          <p:cNvPr id="27" name="Step text 5"/>
          <p:cNvSpPr txBox="1"/>
          <p:nvPr/>
        </p:nvSpPr>
        <p:spPr>
          <a:xfrm>
            <a:off x="594360" y="33375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Three models plus baseline; tune the default threshold</a:t>
            </a:r>
            <a:endParaRPr lang="en-US" sz="1200" dirty="0"/>
          </a:p>
        </p:txBody>
      </p:sp>
      <p:sp>
        <p:nvSpPr>
          <p:cNvPr id="28" name="Step card 6"/>
          <p:cNvSpPr/>
          <p:nvPr/>
        </p:nvSpPr>
        <p:spPr>
          <a:xfrm>
            <a:off x="2575590" y="26974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9" name="Step marker 6"/>
          <p:cNvSpPr/>
          <p:nvPr/>
        </p:nvSpPr>
        <p:spPr>
          <a:xfrm>
            <a:off x="2712750" y="2834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Step marker 6 number"/>
          <p:cNvSpPr txBox="1"/>
          <p:nvPr/>
        </p:nvSpPr>
        <p:spPr>
          <a:xfrm>
            <a:off x="271275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Step heading 6"/>
          <p:cNvSpPr txBox="1"/>
          <p:nvPr/>
        </p:nvSpPr>
        <p:spPr>
          <a:xfrm>
            <a:off x="3124230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Importances</a:t>
            </a:r>
            <a:endParaRPr lang="en-US" sz="1400" dirty="0"/>
          </a:p>
        </p:txBody>
      </p:sp>
      <p:sp>
        <p:nvSpPr>
          <p:cNvPr id="32" name="Step text 6"/>
          <p:cNvSpPr txBox="1"/>
          <p:nvPr/>
        </p:nvSpPr>
        <p:spPr>
          <a:xfrm>
            <a:off x="2712750" y="33375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Random Forest importances show which fields drive default</a:t>
            </a:r>
            <a:endParaRPr lang="en-US" sz="1200" dirty="0"/>
          </a:p>
        </p:txBody>
      </p:sp>
      <p:sp>
        <p:nvSpPr>
          <p:cNvPr id="33" name="Step card 7"/>
          <p:cNvSpPr/>
          <p:nvPr/>
        </p:nvSpPr>
        <p:spPr>
          <a:xfrm>
            <a:off x="4693981" y="26974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4" name="Step marker 7"/>
          <p:cNvSpPr/>
          <p:nvPr/>
        </p:nvSpPr>
        <p:spPr>
          <a:xfrm>
            <a:off x="4831141" y="2834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tep marker 7 number"/>
          <p:cNvSpPr txBox="1"/>
          <p:nvPr/>
        </p:nvSpPr>
        <p:spPr>
          <a:xfrm>
            <a:off x="4831141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Step heading 7"/>
          <p:cNvSpPr txBox="1"/>
          <p:nvPr/>
        </p:nvSpPr>
        <p:spPr>
          <a:xfrm>
            <a:off x="5242621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Regress and simulate</a:t>
            </a:r>
            <a:endParaRPr lang="en-US" sz="1400" dirty="0"/>
          </a:p>
        </p:txBody>
      </p:sp>
      <p:sp>
        <p:nvSpPr>
          <p:cNvPr id="37" name="Step text 7"/>
          <p:cNvSpPr txBox="1"/>
          <p:nvPr/>
        </p:nvSpPr>
        <p:spPr>
          <a:xfrm>
            <a:off x="4831141" y="33375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NAR models and a return vs. loans-selected curve</a:t>
            </a:r>
            <a:endParaRPr lang="en-US" sz="1200" dirty="0"/>
          </a:p>
        </p:txBody>
      </p:sp>
      <p:sp>
        <p:nvSpPr>
          <p:cNvPr id="38" name="Step card 8"/>
          <p:cNvSpPr/>
          <p:nvPr/>
        </p:nvSpPr>
        <p:spPr>
          <a:xfrm>
            <a:off x="6812371" y="269748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9" name="Step marker 8"/>
          <p:cNvSpPr/>
          <p:nvPr/>
        </p:nvSpPr>
        <p:spPr>
          <a:xfrm>
            <a:off x="6949531" y="28346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Step marker 8 number"/>
          <p:cNvSpPr txBox="1"/>
          <p:nvPr/>
        </p:nvSpPr>
        <p:spPr>
          <a:xfrm>
            <a:off x="6949531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Step heading 8"/>
          <p:cNvSpPr txBox="1"/>
          <p:nvPr/>
        </p:nvSpPr>
        <p:spPr>
          <a:xfrm>
            <a:off x="7361011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demo</a:t>
            </a:r>
            <a:endParaRPr lang="en-US" sz="1400" dirty="0"/>
          </a:p>
        </p:txBody>
      </p:sp>
      <p:sp>
        <p:nvSpPr>
          <p:cNvPr id="42" name="Step text 8"/>
          <p:cNvSpPr txBox="1"/>
          <p:nvPr/>
        </p:nvSpPr>
        <p:spPr>
          <a:xfrm>
            <a:off x="6949531" y="33375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Prints default probability, predicted NAR and INVEST / DO NOT INVEST</a:t>
            </a:r>
            <a:endParaRPr lang="en-US" sz="1200" dirty="0"/>
          </a:p>
        </p:txBody>
      </p:sp>
      <p:sp>
        <p:nvSpPr>
          <p:cNvPr id="43" name="Tools caption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Python · pandas · NumPy · matplotlib · scikit-learn   |   FAST_MODE trains on a 200,000-row sample for quick checks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on the test set</a:t>
            </a:r>
            <a:endParaRPr lang="en-US" sz="3000" dirty="0"/>
          </a:p>
        </p:txBody>
      </p:sp>
      <p:sp>
        <p:nvSpPr>
          <p:cNvPr id="3" name="Results card 1"/>
          <p:cNvSpPr/>
          <p:nvPr/>
        </p:nvSpPr>
        <p:spPr>
          <a:xfrm>
            <a:off x="457200" y="1143000"/>
            <a:ext cx="402336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4" name="Results heading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Classification</a:t>
            </a:r>
            <a:endParaRPr lang="en-US" sz="1600" dirty="0"/>
          </a:p>
        </p:txBody>
      </p:sp>
      <p:sp>
        <p:nvSpPr>
          <p:cNvPr id="5" name="Result label 1.1"/>
          <p:cNvSpPr txBox="1"/>
          <p:nvPr/>
        </p:nvSpPr>
        <p:spPr>
          <a:xfrm>
            <a:off x="68580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Selected model</a:t>
            </a:r>
            <a:endParaRPr lang="en-US" sz="1400" dirty="0"/>
          </a:p>
        </p:txBody>
      </p:sp>
      <p:sp>
        <p:nvSpPr>
          <p:cNvPr id="6" name="Result value 1.1"/>
          <p:cNvSpPr/>
          <p:nvPr/>
        </p:nvSpPr>
        <p:spPr>
          <a:xfrm>
            <a:off x="2971800" y="182880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7" name="Result value text 1.1"/>
          <p:cNvSpPr txBox="1"/>
          <p:nvPr/>
        </p:nvSpPr>
        <p:spPr>
          <a:xfrm>
            <a:off x="297180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8" name="Result label 1.2"/>
          <p:cNvSpPr txBox="1"/>
          <p:nvPr/>
        </p:nvSpPr>
        <p:spPr>
          <a:xfrm>
            <a:off x="68580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Default threshold</a:t>
            </a:r>
            <a:endParaRPr lang="en-US" sz="1400" dirty="0"/>
          </a:p>
        </p:txBody>
      </p:sp>
      <p:sp>
        <p:nvSpPr>
          <p:cNvPr id="9" name="Result value 1.2"/>
          <p:cNvSpPr/>
          <p:nvPr/>
        </p:nvSpPr>
        <p:spPr>
          <a:xfrm>
            <a:off x="2971800" y="233172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10" name="Result value text 1.2"/>
          <p:cNvSpPr txBox="1"/>
          <p:nvPr/>
        </p:nvSpPr>
        <p:spPr>
          <a:xfrm>
            <a:off x="2971800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11" name="Result label 1.3"/>
          <p:cNvSpPr txBox="1"/>
          <p:nvPr/>
        </p:nvSpPr>
        <p:spPr>
          <a:xfrm>
            <a:off x="68580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Default precision / recall</a:t>
            </a:r>
            <a:endParaRPr lang="en-US" sz="1400" dirty="0"/>
          </a:p>
        </p:txBody>
      </p:sp>
      <p:sp>
        <p:nvSpPr>
          <p:cNvPr id="12" name="Result value 1.3"/>
          <p:cNvSpPr/>
          <p:nvPr/>
        </p:nvSpPr>
        <p:spPr>
          <a:xfrm>
            <a:off x="2971800" y="283464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13" name="Result value text 1.3"/>
          <p:cNvSpPr txBox="1"/>
          <p:nvPr/>
        </p:nvSpPr>
        <p:spPr>
          <a:xfrm>
            <a:off x="2971800" y="2834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14" name="Result label 1.4"/>
          <p:cNvSpPr txBox="1"/>
          <p:nvPr/>
        </p:nvSpPr>
        <p:spPr>
          <a:xfrm>
            <a:off x="685800" y="3337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Default F1</a:t>
            </a:r>
            <a:endParaRPr lang="en-US" sz="1400" dirty="0"/>
          </a:p>
        </p:txBody>
      </p:sp>
      <p:sp>
        <p:nvSpPr>
          <p:cNvPr id="15" name="Result value 1.4"/>
          <p:cNvSpPr/>
          <p:nvPr/>
        </p:nvSpPr>
        <p:spPr>
          <a:xfrm>
            <a:off x="2971800" y="333756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16" name="Result value text 1.4"/>
          <p:cNvSpPr txBox="1"/>
          <p:nvPr/>
        </p:nvSpPr>
        <p:spPr>
          <a:xfrm>
            <a:off x="297180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17" name="Result label 1.5"/>
          <p:cNvSpPr txBox="1"/>
          <p:nvPr/>
        </p:nvSpPr>
        <p:spPr>
          <a:xfrm>
            <a:off x="685800" y="3840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ROC-AUC / PR-AUC</a:t>
            </a:r>
            <a:endParaRPr lang="en-US" sz="1400" dirty="0"/>
          </a:p>
        </p:txBody>
      </p:sp>
      <p:sp>
        <p:nvSpPr>
          <p:cNvPr id="18" name="Result value 1.5"/>
          <p:cNvSpPr/>
          <p:nvPr/>
        </p:nvSpPr>
        <p:spPr>
          <a:xfrm>
            <a:off x="2971800" y="384048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19" name="Result value text 1.5"/>
          <p:cNvSpPr txBox="1"/>
          <p:nvPr/>
        </p:nvSpPr>
        <p:spPr>
          <a:xfrm>
            <a:off x="297180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20" name="Results card 2"/>
          <p:cNvSpPr/>
          <p:nvPr/>
        </p:nvSpPr>
        <p:spPr>
          <a:xfrm>
            <a:off x="4663440" y="1143000"/>
            <a:ext cx="402336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21" name="Results heading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Regression and strategy</a:t>
            </a:r>
            <a:endParaRPr lang="en-US" sz="1600" dirty="0"/>
          </a:p>
        </p:txBody>
      </p:sp>
      <p:sp>
        <p:nvSpPr>
          <p:cNvPr id="22" name="Result label 2.1"/>
          <p:cNvSpPr txBox="1"/>
          <p:nvPr/>
        </p:nvSpPr>
        <p:spPr>
          <a:xfrm>
            <a:off x="489204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Selected model</a:t>
            </a:r>
            <a:endParaRPr lang="en-US" sz="1400" dirty="0"/>
          </a:p>
        </p:txBody>
      </p:sp>
      <p:sp>
        <p:nvSpPr>
          <p:cNvPr id="23" name="Result value 2.1"/>
          <p:cNvSpPr/>
          <p:nvPr/>
        </p:nvSpPr>
        <p:spPr>
          <a:xfrm>
            <a:off x="7178040" y="182880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24" name="Result value text 2.1"/>
          <p:cNvSpPr txBox="1"/>
          <p:nvPr/>
        </p:nvSpPr>
        <p:spPr>
          <a:xfrm>
            <a:off x="717804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25" name="Result label 2.2"/>
          <p:cNvSpPr txBox="1"/>
          <p:nvPr/>
        </p:nvSpPr>
        <p:spPr>
          <a:xfrm>
            <a:off x="489204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 R² / RMSE</a:t>
            </a:r>
            <a:endParaRPr lang="en-US" sz="1400" dirty="0"/>
          </a:p>
        </p:txBody>
      </p:sp>
      <p:sp>
        <p:nvSpPr>
          <p:cNvPr id="26" name="Result value 2.2"/>
          <p:cNvSpPr/>
          <p:nvPr/>
        </p:nvSpPr>
        <p:spPr>
          <a:xfrm>
            <a:off x="7178040" y="233172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27" name="Result value text 2.2"/>
          <p:cNvSpPr txBox="1"/>
          <p:nvPr/>
        </p:nvSpPr>
        <p:spPr>
          <a:xfrm>
            <a:off x="7178040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28" name="Result label 2.3"/>
          <p:cNvSpPr txBox="1"/>
          <p:nvPr/>
        </p:nvSpPr>
        <p:spPr>
          <a:xfrm>
            <a:off x="489204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Loans selected (%)</a:t>
            </a:r>
            <a:endParaRPr lang="en-US" sz="1400" dirty="0"/>
          </a:p>
        </p:txBody>
      </p:sp>
      <p:sp>
        <p:nvSpPr>
          <p:cNvPr id="29" name="Result value 2.3"/>
          <p:cNvSpPr/>
          <p:nvPr/>
        </p:nvSpPr>
        <p:spPr>
          <a:xfrm>
            <a:off x="7178040" y="283464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30" name="Result value text 2.3"/>
          <p:cNvSpPr txBox="1"/>
          <p:nvPr/>
        </p:nvSpPr>
        <p:spPr>
          <a:xfrm>
            <a:off x="7178040" y="2834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31" name="Result label 2.4"/>
          <p:cNvSpPr txBox="1"/>
          <p:nvPr/>
        </p:nvSpPr>
        <p:spPr>
          <a:xfrm>
            <a:off x="4892040" y="3337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Mean NAR, all loans</a:t>
            </a:r>
            <a:endParaRPr lang="en-US" sz="1400" dirty="0"/>
          </a:p>
        </p:txBody>
      </p:sp>
      <p:sp>
        <p:nvSpPr>
          <p:cNvPr id="32" name="Result value 2.4"/>
          <p:cNvSpPr/>
          <p:nvPr/>
        </p:nvSpPr>
        <p:spPr>
          <a:xfrm>
            <a:off x="7178040" y="333756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33" name="Result value text 2.4"/>
          <p:cNvSpPr txBox="1"/>
          <p:nvPr/>
        </p:nvSpPr>
        <p:spPr>
          <a:xfrm>
            <a:off x="717804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34" name="Result label 2.5"/>
          <p:cNvSpPr txBox="1"/>
          <p:nvPr/>
        </p:nvSpPr>
        <p:spPr>
          <a:xfrm>
            <a:off x="4892040" y="3840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Mean NAR, selected loans</a:t>
            </a:r>
            <a:endParaRPr lang="en-US" sz="1400" dirty="0"/>
          </a:p>
        </p:txBody>
      </p:sp>
      <p:sp>
        <p:nvSpPr>
          <p:cNvPr id="35" name="Result value 2.5"/>
          <p:cNvSpPr/>
          <p:nvPr/>
        </p:nvSpPr>
        <p:spPr>
          <a:xfrm>
            <a:off x="7178040" y="3840480"/>
            <a:ext cx="128016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sp>
        <p:nvSpPr>
          <p:cNvPr id="36" name="Result value text 2.5"/>
          <p:cNvSpPr txBox="1"/>
          <p:nvPr/>
        </p:nvSpPr>
        <p:spPr>
          <a:xfrm>
            <a:off x="717804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 fill 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5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Conclusions and next steps</a:t>
            </a:r>
            <a:endParaRPr lang="en-US" sz="3000" dirty="0"/>
          </a:p>
        </p:txBody>
      </p:sp>
      <p:sp>
        <p:nvSpPr>
          <p:cNvPr id="3" name="Conclusion card 1"/>
          <p:cNvSpPr/>
          <p:nvPr/>
        </p:nvSpPr>
        <p:spPr>
          <a:xfrm>
            <a:off x="457200" y="1143000"/>
            <a:ext cx="4023360" cy="283464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/>
        </p:spPr>
      </p:sp>
      <p:sp>
        <p:nvSpPr>
          <p:cNvPr id="4" name="Conclusion heading 1"/>
          <p:cNvSpPr txBox="1"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What we found</a:t>
            </a:r>
            <a:endParaRPr lang="en-US" sz="1800" dirty="0"/>
          </a:p>
        </p:txBody>
      </p:sp>
      <p:sp>
        <p:nvSpPr>
          <p:cNvPr id="5" name="Conclusion bullets 1"/>
          <p:cNvSpPr txBox="1"/>
          <p:nvPr/>
        </p:nvSpPr>
        <p:spPr>
          <a:xfrm>
            <a:off x="731520" y="17830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is imbalanced (about 19% defaults), so recall, F1 and PR-AUC matter more than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Dropping post-loan fields and tuning on a validation set keeps test results honest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Ranking loans by predicted NAR turns predictions into an investment rule</a:t>
            </a:r>
            <a:endParaRPr lang="en-US" sz="1400" dirty="0"/>
          </a:p>
        </p:txBody>
      </p:sp>
      <p:sp>
        <p:nvSpPr>
          <p:cNvPr id="6" name="Conclusion card 2"/>
          <p:cNvSpPr/>
          <p:nvPr/>
        </p:nvSpPr>
        <p:spPr>
          <a:xfrm>
            <a:off x="4663440" y="1143000"/>
            <a:ext cx="4023360" cy="283464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/>
        </p:spPr>
      </p:sp>
      <p:sp>
        <p:nvSpPr>
          <p:cNvPr id="7" name="Conclusion heading 2"/>
          <p:cNvSpPr txBox="1"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Limits and future work</a:t>
            </a:r>
            <a:endParaRPr lang="en-US" sz="1800" dirty="0"/>
          </a:p>
        </p:txBody>
      </p:sp>
      <p:sp>
        <p:nvSpPr>
          <p:cNvPr id="8" name="Conclusion bullets 2"/>
          <p:cNvSpPr txBox="1"/>
          <p:nvPr/>
        </p:nvSpPr>
        <p:spPr>
          <a:xfrm>
            <a:off x="4937760" y="17830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Limits: 2012–2015 only; LendingClub grade already encodes risk; NAR is approximate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 on later years with a time-based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loan-description text and macroeconomic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Tune hyperparameters more systematically</a:t>
            </a:r>
            <a:endParaRPr lang="en-US" sz="1400" dirty="0"/>
          </a:p>
        </p:txBody>
      </p:sp>
      <p:sp>
        <p:nvSpPr>
          <p:cNvPr id="9" name="GitHub link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Code: github.com/karan21v/LendingClub-P2P-Loan-Default-Prediction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6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dingClub Indigo">
  <a:themeElements>
    <a:clrScheme name="LendingClub Indigo">
      <a:dk1>
        <a:srgbClr val="1A1740"/>
      </a:dk1>
      <a:lt1>
        <a:srgbClr val="FFFFFF"/>
      </a:lt1>
      <a:dk2>
        <a:srgbClr val="2B2760"/>
      </a:dk2>
      <a:lt2>
        <a:srgbClr val="ECE8F8"/>
      </a:lt2>
      <a:accent1>
        <a:srgbClr val="6C5FC7"/>
      </a:accent1>
      <a:accent2>
        <a:srgbClr val="FF6B57"/>
      </a:accent2>
      <a:accent3>
        <a:srgbClr val="F5B83D"/>
      </a:accent3>
      <a:accent4>
        <a:srgbClr val="8E86D6"/>
      </a:accent4>
      <a:accent5>
        <a:srgbClr val="4A4580"/>
      </a:accent5>
      <a:accent6>
        <a:srgbClr val="FFF2A8"/>
      </a:accent6>
      <a:hlink>
        <a:srgbClr val="C9C4F5"/>
      </a:hlink>
      <a:folHlink>
        <a:srgbClr val="8E86D6"/>
      </a:folHlink>
    </a:clrScheme>
    <a:fontScheme name="LendingClub Indig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Loan Default and Profitability Prediction</dc:title>
  <dc:subject>PptxGenJS Presentation</dc:subject>
  <dc:creator>Team 14</dc:creator>
  <cp:lastModifiedBy>Team 14</cp:lastModifiedBy>
  <cp:revision>1</cp:revision>
  <dcterms:created xsi:type="dcterms:W3CDTF">2026-10-08T14:18:11Z</dcterms:created>
  <dcterms:modified xsi:type="dcterms:W3CDTF">2026-10-08T14:18:11Z</dcterms:modified>
</cp:coreProperties>
</file>